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hy" id="{a44d3b9e-de10-9bf9-322e-1311d13ad9da}">
          <p14:sldIdLst>
            <p14:sldId id="256"/>
            <p14:sldId id="257"/>
          </p14:sldIdLst>
        </p14:section>
        <p14:section name="What" id="{b97aed8a-fd92-f9ca-f9fa-7973bf659ab1}">
          <p14:sldIdLst>
            <p14:sldId id="258"/>
            <p14:sldId id="259"/>
            <p14:sldId id="260"/>
          </p14:sldIdLst>
        </p14:section>
        <p14:section name="How" id="{e81943c0-5632-e59e-35ab-9204468a12c9}">
          <p14:sldIdLst>
            <p14:sldId id="261"/>
            <p14:sldId id="262"/>
            <p14:sldId id="263"/>
          </p14:sldIdLst>
        </p14:section>
        <p14:section name="Next" id="{55ffebec-9587-fa9b-1c11-f95cace38b23}">
          <p14:sldIdLst>
            <p14:sldId id="264"/>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this is ESP32 Assistant, our entry for the Physical AI track. It lets your AI coding agent see and understand the real board on your desk: whether it works, what it is doing, and — with NVIDIA Nemotron on Nebius — why it is failing and how to fix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embedded developer knows this moment. You plug in a board, and you have no idea whether it works. Is the driver missing? What chip is it? Is my program running? And why does it keep rebooting? The answers are spread across Device Manager, esptool, a serial terminal and a search engine.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ESP32 Assistant puts everything in one pane, right next to your AI coding agent. It finds the board within two seconds, identifies the chip in one click, and starts the serial monitor by itself. Instead of raw logs, each board gets a verdict in plain words: green when the program runs, amber when something needs attention, red when it crashes or keeps restarting.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something goes wrong, one click on AI diagnosis sends the chip facts, the monitor’s summary and the last eighty log lines to NVIDIA Nemotron 3.5 Lightning on Nebius Token Factory. In about two seconds it returns the root cause, quoting the log line that proves it, up to four concrete fix steps, and how confident it is. This is a real answer from our watchdog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is the core promise: a board stuck in a reboot loop goes from mystery to an evidence-backed root cause in about two seconds, without leaving the editor.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Hardware mistakes are hard to undo, so the tool is careful. Everything is read-only except flashing. Flashing always shows a confirmation card, and the AI agent has to ask you first. Images are checked so the wrong chip or a partial image is refused. And every AI answer names the model and lists exactly what data was sent.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architecture is simple. The pane is a Velloc mod written as pure render functions, so the same state always renders the same screen. A Python back end built on pyserial and esptool does the hardware work. A background monitor owns the serial port and writes state files the pane reads. For diagnosis, the back end calls NVIDIA Nemotron on Nebius Token Factory through its OpenAI-compatible API.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built it test-first: two hundred forty-four unit tests, and everything verified on a real ESP32-S3. We also wrote four demo firmwares, so anyone can reproduce a healthy board, a crash, a Wi-Fi failure and a watchdog loop. Testing on real hardware found real bugs, like reset noise that hid reboot loops.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we want to close the loop: diagnose automatically the moment a crash happens, decode backtraces to the exact source line, and let the coding agent apply the fix, rebuild and re-flash — always after asking. Then more chips and more operating systems.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Enough slides. Let’s see it live: we will plug in a healthy board, flash a firmware with a hidden watchdog bug, watch the verdict turn red, ask Nemotron why, and fix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AFAF9"/>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11094415" cy="365760"/>
          </a:xfrm>
          <a:prstGeom prst="rect">
            <a:avLst/>
          </a:prstGeom>
          <a:noFill/>
          <a:ln/>
        </p:spPr>
        <p:txBody>
          <a:bodyPr wrap="square" rtlCol="0"/>
          <a:lstStyle>
            <a:lvl1pPr indent="0" marL="0">
              <a:buNone/>
              <a:defRPr lang="en-US" sz="1400" b="1" spc="200" kern="0" dirty="0">
                <a:solidFill>
                  <a:schemeClr val="accent1"/>
                </a:solidFill>
              </a:defRPr>
            </a:lvl1pPr>
          </a:lstStyle>
          <a:p>
            <a:pPr indent="0" marL="0">
              <a:buNone/>
            </a:pPr>
            <a:endParaRPr lang="en-US" sz="1400" dirty="0"/>
          </a:p>
        </p:txBody>
      </p:sp>
      <p:sp>
        <p:nvSpPr>
          <p:cNvPr id="3" name="Text 0"/>
          <p:cNvSpPr/>
          <p:nvPr>
            <p:ph idx="101" type="title" hasCustomPrompt="1"/>
          </p:nvPr>
        </p:nvSpPr>
        <p:spPr>
          <a:xfrm>
            <a:off x="548640" y="777240"/>
            <a:ext cx="11094415" cy="82296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A1714"/>
        </a:solidFill>
      </p:bgPr>
    </p:bg>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Accent">
    <p:bg>
      <p:bgPr>
        <a:solidFill>
          <a:srgbClr val="E7000B"/>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1554480"/>
            <a:ext cx="11094415" cy="365760"/>
          </a:xfrm>
          <a:prstGeom prst="rect">
            <a:avLst/>
          </a:prstGeom>
          <a:noFill/>
          <a:ln/>
        </p:spPr>
        <p:txBody>
          <a:bodyPr wrap="square" lIns="0" tIns="0" rIns="0" bIns="0" rtlCol="0" anchor="ctr"/>
          <a:lstStyle/>
          <a:p>
            <a:pPr indent="0" marL="0">
              <a:buNone/>
            </a:pPr>
            <a:r>
              <a:rPr lang="en-US" sz="1600" b="1" spc="200" kern="0" dirty="0">
                <a:solidFill>
                  <a:schemeClr val="accent1"/>
                </a:solidFill>
              </a:rPr>
              <a:t>NEBIUS × NVIDIA GLOBAL AI HACKATHON  ·  PHYSICAL AI</a:t>
            </a:r>
            <a:endParaRPr lang="en-US" sz="1600" dirty="0"/>
          </a:p>
        </p:txBody>
      </p:sp>
      <p:sp>
        <p:nvSpPr>
          <p:cNvPr id="3" name="Text 1"/>
          <p:cNvSpPr txBox="1"/>
          <p:nvPr/>
        </p:nvSpPr>
        <p:spPr>
          <a:xfrm>
            <a:off x="548640" y="2011680"/>
            <a:ext cx="11094415" cy="1188720"/>
          </a:xfrm>
          <a:prstGeom prst="rect">
            <a:avLst/>
          </a:prstGeom>
          <a:noFill/>
          <a:ln/>
        </p:spPr>
        <p:txBody>
          <a:bodyPr wrap="square" lIns="0" tIns="0" rIns="0" bIns="0" rtlCol="0" anchor="ctr"/>
          <a:lstStyle/>
          <a:p>
            <a:pPr indent="0" marL="0">
              <a:buNone/>
            </a:pPr>
            <a:r>
              <a:rPr lang="en-US" sz="6600" b="1" dirty="0">
                <a:solidFill>
                  <a:schemeClr val="bg1"/>
                </a:solidFill>
              </a:rPr>
              <a:t>ESP32 Assistant</a:t>
            </a:r>
            <a:endParaRPr lang="en-US" sz="6600" dirty="0"/>
          </a:p>
        </p:txBody>
      </p:sp>
      <p:sp>
        <p:nvSpPr>
          <p:cNvPr id="4" name="Text 2"/>
          <p:cNvSpPr txBox="1"/>
          <p:nvPr/>
        </p:nvSpPr>
        <p:spPr>
          <a:xfrm>
            <a:off x="548640" y="3337560"/>
            <a:ext cx="9601200" cy="1097280"/>
          </a:xfrm>
          <a:prstGeom prst="rect">
            <a:avLst/>
          </a:prstGeom>
          <a:noFill/>
          <a:ln/>
        </p:spPr>
        <p:txBody>
          <a:bodyPr wrap="square" lIns="0" tIns="0" rIns="0" bIns="0" rtlCol="0" anchor="ctr"/>
          <a:lstStyle/>
          <a:p>
            <a:pPr indent="0" marL="0">
              <a:buNone/>
            </a:pPr>
            <a:r>
              <a:rPr lang="en-US" sz="2200" dirty="0">
                <a:solidFill>
                  <a:schemeClr val="accent6"/>
                </a:solidFill>
              </a:rPr>
              <a:t>Plug in a board and know in seconds whether it works, what it is doing, and why it fails — explained by NVIDIA Nemotron on Nebius.</a:t>
            </a:r>
            <a:endParaRPr lang="en-US" sz="2200" dirty="0"/>
          </a:p>
        </p:txBody>
      </p:sp>
      <p:sp>
        <p:nvSpPr>
          <p:cNvPr id="5" name="Text 3"/>
          <p:cNvSpPr txBox="1"/>
          <p:nvPr/>
        </p:nvSpPr>
        <p:spPr>
          <a:xfrm>
            <a:off x="548640" y="6035040"/>
            <a:ext cx="11094415" cy="320040"/>
          </a:xfrm>
          <a:prstGeom prst="rect">
            <a:avLst/>
          </a:prstGeom>
          <a:noFill/>
          <a:ln/>
        </p:spPr>
        <p:txBody>
          <a:bodyPr wrap="square" lIns="0" tIns="0" rIns="0" bIns="0" rtlCol="0" anchor="ctr"/>
          <a:lstStyle/>
          <a:p>
            <a:pPr indent="0" marL="0">
              <a:buNone/>
            </a:pPr>
            <a:r>
              <a:rPr lang="en-US" sz="1200" dirty="0">
                <a:solidFill>
                  <a:schemeClr val="accent5"/>
                </a:solidFill>
              </a:rPr>
              <a:t>An open-source plugin for Velloc Code and Claude Code  ·  ESP32-S3</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11094415" cy="365760"/>
          </a:xfrm>
          <a:prstGeom prst="rect">
            <a:avLst/>
          </a:prstGeom>
          <a:noFill/>
          <a:ln/>
        </p:spPr>
        <p:txBody>
          <a:bodyPr wrap="square" lIns="0" tIns="0" rIns="0" bIns="0" rtlCol="0"/>
          <a:lstStyle/>
          <a:p>
            <a:pPr indent="0" marL="0">
              <a:buNone/>
            </a:pPr>
            <a:r>
              <a:rPr lang="en-US" sz="1400" b="1" spc="200" kern="0" dirty="0">
                <a:solidFill>
                  <a:schemeClr val="accent1"/>
                </a:solidFill>
              </a:rPr>
              <a:t>THE PROBLEM</a:t>
            </a:r>
            <a:endParaRPr lang="en-US" sz="1400" dirty="0"/>
          </a:p>
        </p:txBody>
      </p:sp>
      <p:sp>
        <p:nvSpPr>
          <p:cNvPr id="3" name="Text 0"/>
          <p:cNvSpPr/>
          <p:nvPr>
            <p:ph idx="101" type="title" hasCustomPrompt="1"/>
          </p:nvPr>
        </p:nvSpPr>
        <p:spPr>
          <a:xfrm>
            <a:off x="548640" y="777240"/>
            <a:ext cx="11094415" cy="822960"/>
          </a:xfrm>
          <a:prstGeom prst="rect">
            <a:avLst/>
          </a:prstGeom>
          <a:noFill/>
          <a:ln/>
        </p:spPr>
        <p:txBody>
          <a:bodyPr wrap="square" lIns="0" tIns="0" rIns="0" bIns="0" rtlCol="0" anchor="t"/>
          <a:lstStyle/>
          <a:p>
            <a:pPr algn="l" indent="0" marL="0">
              <a:buNone/>
            </a:pPr>
            <a:r>
              <a:rPr lang="en-US" sz="3600" b="1" dirty="0">
                <a:solidFill>
                  <a:schemeClr val="tx1"/>
                </a:solidFill>
              </a:rPr>
              <a:t>You plug in a board. Then what?</a:t>
            </a:r>
            <a:endParaRPr lang="en-US" sz="3600" dirty="0"/>
          </a:p>
        </p:txBody>
      </p:sp>
      <p:sp>
        <p:nvSpPr>
          <p:cNvPr id="4" name="Shape 2"/>
          <p:cNvSpPr/>
          <p:nvPr/>
        </p:nvSpPr>
        <p:spPr>
          <a:xfrm>
            <a:off x="548640" y="1920240"/>
            <a:ext cx="5364328" cy="1874520"/>
          </a:xfrm>
          <a:prstGeom prst="roundRect">
            <a:avLst>
              <a:gd name="adj" fmla="val 5854"/>
            </a:avLst>
          </a:prstGeom>
          <a:solidFill>
            <a:schemeClr val="bg1"/>
          </a:solidFill>
          <a:ln w="9525">
            <a:solidFill>
              <a:srgbClr val="E7E5E4"/>
            </a:solidFill>
            <a:prstDash val="solid"/>
          </a:ln>
        </p:spPr>
      </p:sp>
      <p:sp>
        <p:nvSpPr>
          <p:cNvPr id="5" name="Text 3"/>
          <p:cNvSpPr txBox="1"/>
          <p:nvPr/>
        </p:nvSpPr>
        <p:spPr>
          <a:xfrm>
            <a:off x="914400" y="2240280"/>
            <a:ext cx="4632808" cy="457200"/>
          </a:xfrm>
          <a:prstGeom prst="rect">
            <a:avLst/>
          </a:prstGeom>
          <a:noFill/>
          <a:ln/>
        </p:spPr>
        <p:txBody>
          <a:bodyPr wrap="square" lIns="0" tIns="0" rIns="0" bIns="0" rtlCol="0" anchor="ctr"/>
          <a:lstStyle/>
          <a:p>
            <a:pPr indent="0" marL="0">
              <a:buNone/>
            </a:pPr>
            <a:r>
              <a:rPr lang="en-US" sz="2200" b="1" dirty="0">
                <a:solidFill>
                  <a:schemeClr val="tx1"/>
                </a:solidFill>
              </a:rPr>
              <a:t>Is it even connected?</a:t>
            </a:r>
            <a:endParaRPr lang="en-US" sz="2200" dirty="0"/>
          </a:p>
        </p:txBody>
      </p:sp>
      <p:sp>
        <p:nvSpPr>
          <p:cNvPr id="6" name="Text 4"/>
          <p:cNvSpPr txBox="1"/>
          <p:nvPr/>
        </p:nvSpPr>
        <p:spPr>
          <a:xfrm>
            <a:off x="914400" y="2788920"/>
            <a:ext cx="4632808" cy="731520"/>
          </a:xfrm>
          <a:prstGeom prst="rect">
            <a:avLst/>
          </a:prstGeom>
          <a:noFill/>
          <a:ln/>
        </p:spPr>
        <p:txBody>
          <a:bodyPr wrap="square" lIns="0" tIns="0" rIns="0" bIns="0" rtlCol="0" anchor="ctr"/>
          <a:lstStyle/>
          <a:p>
            <a:pPr indent="0" marL="0">
              <a:buNone/>
            </a:pPr>
            <a:r>
              <a:rPr lang="en-US" sz="1600" dirty="0">
                <a:solidFill>
                  <a:schemeClr val="tx2"/>
                </a:solidFill>
              </a:rPr>
              <a:t>Bad cable, wrong port or a missing USB driver all look the same: nothing.</a:t>
            </a:r>
            <a:endParaRPr lang="en-US" sz="1600" dirty="0"/>
          </a:p>
        </p:txBody>
      </p:sp>
      <p:sp>
        <p:nvSpPr>
          <p:cNvPr id="7" name="Shape 5"/>
          <p:cNvSpPr/>
          <p:nvPr/>
        </p:nvSpPr>
        <p:spPr>
          <a:xfrm>
            <a:off x="6278728" y="1920240"/>
            <a:ext cx="5364328" cy="1874520"/>
          </a:xfrm>
          <a:prstGeom prst="roundRect">
            <a:avLst>
              <a:gd name="adj" fmla="val 5854"/>
            </a:avLst>
          </a:prstGeom>
          <a:solidFill>
            <a:schemeClr val="bg1"/>
          </a:solidFill>
          <a:ln w="9525">
            <a:solidFill>
              <a:srgbClr val="E7E5E4"/>
            </a:solidFill>
            <a:prstDash val="solid"/>
          </a:ln>
        </p:spPr>
      </p:sp>
      <p:sp>
        <p:nvSpPr>
          <p:cNvPr id="8" name="Text 6"/>
          <p:cNvSpPr txBox="1"/>
          <p:nvPr/>
        </p:nvSpPr>
        <p:spPr>
          <a:xfrm>
            <a:off x="6644488" y="2240280"/>
            <a:ext cx="4632808" cy="457200"/>
          </a:xfrm>
          <a:prstGeom prst="rect">
            <a:avLst/>
          </a:prstGeom>
          <a:noFill/>
          <a:ln/>
        </p:spPr>
        <p:txBody>
          <a:bodyPr wrap="square" lIns="0" tIns="0" rIns="0" bIns="0" rtlCol="0" anchor="ctr"/>
          <a:lstStyle/>
          <a:p>
            <a:pPr indent="0" marL="0">
              <a:buNone/>
            </a:pPr>
            <a:r>
              <a:rPr lang="en-US" sz="2200" b="1" dirty="0">
                <a:solidFill>
                  <a:schemeClr val="tx1"/>
                </a:solidFill>
              </a:rPr>
              <a:t>What exactly is it?</a:t>
            </a:r>
            <a:endParaRPr lang="en-US" sz="2200" dirty="0"/>
          </a:p>
        </p:txBody>
      </p:sp>
      <p:sp>
        <p:nvSpPr>
          <p:cNvPr id="9" name="Text 7"/>
          <p:cNvSpPr txBox="1"/>
          <p:nvPr/>
        </p:nvSpPr>
        <p:spPr>
          <a:xfrm>
            <a:off x="6644488" y="2788920"/>
            <a:ext cx="4632808" cy="731520"/>
          </a:xfrm>
          <a:prstGeom prst="rect">
            <a:avLst/>
          </a:prstGeom>
          <a:noFill/>
          <a:ln/>
        </p:spPr>
        <p:txBody>
          <a:bodyPr wrap="square" lIns="0" tIns="0" rIns="0" bIns="0" rtlCol="0" anchor="ctr"/>
          <a:lstStyle/>
          <a:p>
            <a:pPr indent="0" marL="0">
              <a:buNone/>
            </a:pPr>
            <a:r>
              <a:rPr lang="en-US" sz="1600" dirty="0">
                <a:solidFill>
                  <a:schemeClr val="tx2"/>
                </a:solidFill>
              </a:rPr>
              <a:t>Flash size, PSRAM, chip revision — hidden behind esptool commands.</a:t>
            </a:r>
            <a:endParaRPr lang="en-US" sz="1600" dirty="0"/>
          </a:p>
        </p:txBody>
      </p:sp>
      <p:sp>
        <p:nvSpPr>
          <p:cNvPr id="10" name="Shape 8"/>
          <p:cNvSpPr/>
          <p:nvPr/>
        </p:nvSpPr>
        <p:spPr>
          <a:xfrm>
            <a:off x="548640" y="4069080"/>
            <a:ext cx="5364328" cy="1874520"/>
          </a:xfrm>
          <a:prstGeom prst="roundRect">
            <a:avLst>
              <a:gd name="adj" fmla="val 5854"/>
            </a:avLst>
          </a:prstGeom>
          <a:solidFill>
            <a:schemeClr val="bg1"/>
          </a:solidFill>
          <a:ln w="9525">
            <a:solidFill>
              <a:srgbClr val="E7E5E4"/>
            </a:solidFill>
            <a:prstDash val="solid"/>
          </a:ln>
        </p:spPr>
      </p:sp>
      <p:sp>
        <p:nvSpPr>
          <p:cNvPr id="11" name="Text 9"/>
          <p:cNvSpPr txBox="1"/>
          <p:nvPr/>
        </p:nvSpPr>
        <p:spPr>
          <a:xfrm>
            <a:off x="914400" y="4389120"/>
            <a:ext cx="4632808" cy="457200"/>
          </a:xfrm>
          <a:prstGeom prst="rect">
            <a:avLst/>
          </a:prstGeom>
          <a:noFill/>
          <a:ln/>
        </p:spPr>
        <p:txBody>
          <a:bodyPr wrap="square" lIns="0" tIns="0" rIns="0" bIns="0" rtlCol="0" anchor="ctr"/>
          <a:lstStyle/>
          <a:p>
            <a:pPr indent="0" marL="0">
              <a:buNone/>
            </a:pPr>
            <a:r>
              <a:rPr lang="en-US" sz="2200" b="1" dirty="0">
                <a:solidFill>
                  <a:schemeClr val="tx1"/>
                </a:solidFill>
              </a:rPr>
              <a:t>Is my program running?</a:t>
            </a:r>
            <a:endParaRPr lang="en-US" sz="2200" dirty="0"/>
          </a:p>
        </p:txBody>
      </p:sp>
      <p:sp>
        <p:nvSpPr>
          <p:cNvPr id="12" name="Text 10"/>
          <p:cNvSpPr txBox="1"/>
          <p:nvPr/>
        </p:nvSpPr>
        <p:spPr>
          <a:xfrm>
            <a:off x="914400" y="4937760"/>
            <a:ext cx="4632808" cy="731520"/>
          </a:xfrm>
          <a:prstGeom prst="rect">
            <a:avLst/>
          </a:prstGeom>
          <a:noFill/>
          <a:ln/>
        </p:spPr>
        <p:txBody>
          <a:bodyPr wrap="square" lIns="0" tIns="0" rIns="0" bIns="0" rtlCol="0" anchor="ctr"/>
          <a:lstStyle/>
          <a:p>
            <a:pPr indent="0" marL="0">
              <a:buNone/>
            </a:pPr>
            <a:r>
              <a:rPr lang="en-US" sz="1600" dirty="0">
                <a:solidFill>
                  <a:schemeClr val="tx2"/>
                </a:solidFill>
              </a:rPr>
              <a:t>A wall of serial output, with the one important line buried somewhere.</a:t>
            </a:r>
            <a:endParaRPr lang="en-US" sz="1600" dirty="0"/>
          </a:p>
        </p:txBody>
      </p:sp>
      <p:sp>
        <p:nvSpPr>
          <p:cNvPr id="13" name="Shape 11"/>
          <p:cNvSpPr/>
          <p:nvPr/>
        </p:nvSpPr>
        <p:spPr>
          <a:xfrm>
            <a:off x="6278728" y="4069080"/>
            <a:ext cx="5364328" cy="1874520"/>
          </a:xfrm>
          <a:prstGeom prst="roundRect">
            <a:avLst>
              <a:gd name="adj" fmla="val 5854"/>
            </a:avLst>
          </a:prstGeom>
          <a:solidFill>
            <a:schemeClr val="bg1"/>
          </a:solidFill>
          <a:ln w="9525">
            <a:solidFill>
              <a:srgbClr val="E7E5E4"/>
            </a:solidFill>
            <a:prstDash val="solid"/>
          </a:ln>
        </p:spPr>
      </p:sp>
      <p:sp>
        <p:nvSpPr>
          <p:cNvPr id="14" name="Text 12"/>
          <p:cNvSpPr txBox="1"/>
          <p:nvPr/>
        </p:nvSpPr>
        <p:spPr>
          <a:xfrm>
            <a:off x="6644488" y="4389120"/>
            <a:ext cx="4632808" cy="457200"/>
          </a:xfrm>
          <a:prstGeom prst="rect">
            <a:avLst/>
          </a:prstGeom>
          <a:noFill/>
          <a:ln/>
        </p:spPr>
        <p:txBody>
          <a:bodyPr wrap="square" lIns="0" tIns="0" rIns="0" bIns="0" rtlCol="0" anchor="ctr"/>
          <a:lstStyle/>
          <a:p>
            <a:pPr indent="0" marL="0">
              <a:buNone/>
            </a:pPr>
            <a:r>
              <a:rPr lang="en-US" sz="2200" b="1" dirty="0">
                <a:solidFill>
                  <a:schemeClr val="tx1"/>
                </a:solidFill>
              </a:rPr>
              <a:t>Why does it keep rebooting?</a:t>
            </a:r>
            <a:endParaRPr lang="en-US" sz="2200" dirty="0"/>
          </a:p>
        </p:txBody>
      </p:sp>
      <p:sp>
        <p:nvSpPr>
          <p:cNvPr id="15" name="Text 13"/>
          <p:cNvSpPr txBox="1"/>
          <p:nvPr/>
        </p:nvSpPr>
        <p:spPr>
          <a:xfrm>
            <a:off x="6644488" y="4937760"/>
            <a:ext cx="4632808" cy="731520"/>
          </a:xfrm>
          <a:prstGeom prst="rect">
            <a:avLst/>
          </a:prstGeom>
          <a:noFill/>
          <a:ln/>
        </p:spPr>
        <p:txBody>
          <a:bodyPr wrap="square" lIns="0" tIns="0" rIns="0" bIns="0" rtlCol="0" anchor="ctr"/>
          <a:lstStyle/>
          <a:p>
            <a:pPr indent="0" marL="0">
              <a:buNone/>
            </a:pPr>
            <a:r>
              <a:rPr lang="en-US" sz="1600" dirty="0">
                <a:solidFill>
                  <a:schemeClr val="tx2"/>
                </a:solidFill>
                <a:latin typeface="Consolas" pitchFamily="34" charset="0"/>
                <a:ea typeface="Consolas" pitchFamily="34" charset="-122"/>
                <a:cs typeface="Consolas" pitchFamily="34" charset="-120"/>
              </a:rPr>
              <a:t>rst:0xc (RTC_SW_CPU_RST)  —  but what does that mean?</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11094415" cy="365760"/>
          </a:xfrm>
          <a:prstGeom prst="rect">
            <a:avLst/>
          </a:prstGeom>
          <a:noFill/>
          <a:ln/>
        </p:spPr>
        <p:txBody>
          <a:bodyPr wrap="square" lIns="0" tIns="0" rIns="0" bIns="0" rtlCol="0"/>
          <a:lstStyle/>
          <a:p>
            <a:pPr indent="0" marL="0">
              <a:buNone/>
            </a:pPr>
            <a:r>
              <a:rPr lang="en-US" sz="1400" b="1" spc="200" kern="0" dirty="0">
                <a:solidFill>
                  <a:schemeClr val="accent1"/>
                </a:solidFill>
              </a:rPr>
              <a:t>THE IDEA</a:t>
            </a:r>
            <a:endParaRPr lang="en-US" sz="1400" dirty="0"/>
          </a:p>
        </p:txBody>
      </p:sp>
      <p:sp>
        <p:nvSpPr>
          <p:cNvPr id="3" name="Text 0"/>
          <p:cNvSpPr/>
          <p:nvPr>
            <p:ph idx="101" type="title" hasCustomPrompt="1"/>
          </p:nvPr>
        </p:nvSpPr>
        <p:spPr>
          <a:xfrm>
            <a:off x="548640" y="777240"/>
            <a:ext cx="11094415" cy="822960"/>
          </a:xfrm>
          <a:prstGeom prst="rect">
            <a:avLst/>
          </a:prstGeom>
          <a:noFill/>
          <a:ln/>
        </p:spPr>
        <p:txBody>
          <a:bodyPr wrap="square" lIns="0" tIns="0" rIns="0" bIns="0" rtlCol="0" anchor="t"/>
          <a:lstStyle/>
          <a:p>
            <a:pPr algn="l" indent="0" marL="0">
              <a:buNone/>
            </a:pPr>
            <a:r>
              <a:rPr lang="en-US" sz="3600" b="1" dirty="0">
                <a:solidFill>
                  <a:schemeClr val="tx1"/>
                </a:solidFill>
              </a:rPr>
              <a:t>One pane, one verdict in plain words</a:t>
            </a:r>
            <a:endParaRPr lang="en-US" sz="3600" dirty="0"/>
          </a:p>
        </p:txBody>
      </p:sp>
      <p:sp>
        <p:nvSpPr>
          <p:cNvPr id="4" name="Shape 2"/>
          <p:cNvSpPr/>
          <p:nvPr/>
        </p:nvSpPr>
        <p:spPr>
          <a:xfrm>
            <a:off x="548640" y="1920240"/>
            <a:ext cx="11094415" cy="822960"/>
          </a:xfrm>
          <a:prstGeom prst="roundRect">
            <a:avLst>
              <a:gd name="adj" fmla="val 13333"/>
            </a:avLst>
          </a:prstGeom>
          <a:solidFill>
            <a:schemeClr val="bg1"/>
          </a:solidFill>
          <a:ln w="9525">
            <a:solidFill>
              <a:srgbClr val="E7E5E4"/>
            </a:solidFill>
            <a:prstDash val="solid"/>
          </a:ln>
        </p:spPr>
      </p:sp>
      <p:sp>
        <p:nvSpPr>
          <p:cNvPr id="5" name="Shape 3"/>
          <p:cNvSpPr/>
          <p:nvPr/>
        </p:nvSpPr>
        <p:spPr>
          <a:xfrm>
            <a:off x="914400" y="2194560"/>
            <a:ext cx="274320" cy="274320"/>
          </a:xfrm>
          <a:prstGeom prst="ellipse">
            <a:avLst/>
          </a:prstGeom>
          <a:solidFill>
            <a:schemeClr val="accent2"/>
          </a:solidFill>
          <a:ln/>
        </p:spPr>
      </p:sp>
      <p:sp>
        <p:nvSpPr>
          <p:cNvPr id="6" name="Text 4"/>
          <p:cNvSpPr txBox="1"/>
          <p:nvPr/>
        </p:nvSpPr>
        <p:spPr>
          <a:xfrm>
            <a:off x="1417320" y="2103120"/>
            <a:ext cx="2011680" cy="457200"/>
          </a:xfrm>
          <a:prstGeom prst="rect">
            <a:avLst/>
          </a:prstGeom>
          <a:noFill/>
          <a:ln/>
        </p:spPr>
        <p:txBody>
          <a:bodyPr wrap="square" lIns="0" tIns="0" rIns="0" bIns="0" rtlCol="0" anchor="ctr"/>
          <a:lstStyle/>
          <a:p>
            <a:pPr indent="0" marL="0">
              <a:buNone/>
            </a:pPr>
            <a:r>
              <a:rPr lang="en-US" sz="2000" b="1" dirty="0">
                <a:solidFill>
                  <a:schemeClr val="accent2"/>
                </a:solidFill>
              </a:rPr>
              <a:t>Healthy</a:t>
            </a:r>
            <a:endParaRPr lang="en-US" sz="2000" dirty="0"/>
          </a:p>
        </p:txBody>
      </p:sp>
      <p:sp>
        <p:nvSpPr>
          <p:cNvPr id="7" name="Text 5"/>
          <p:cNvSpPr txBox="1"/>
          <p:nvPr/>
        </p:nvSpPr>
        <p:spPr>
          <a:xfrm>
            <a:off x="3474720" y="2103120"/>
            <a:ext cx="7802575" cy="457200"/>
          </a:xfrm>
          <a:prstGeom prst="rect">
            <a:avLst/>
          </a:prstGeom>
          <a:noFill/>
          <a:ln/>
        </p:spPr>
        <p:txBody>
          <a:bodyPr wrap="square" lIns="0" tIns="0" rIns="0" bIns="0" rtlCol="0" anchor="ctr"/>
          <a:lstStyle/>
          <a:p>
            <a:pPr indent="0" marL="0">
              <a:buNone/>
            </a:pPr>
            <a:r>
              <a:rPr lang="en-US" sz="2000" dirty="0">
                <a:solidFill>
                  <a:schemeClr val="tx1"/>
                </a:solidFill>
              </a:rPr>
              <a:t>“Program running normally  ·  up 5 min 3 s”</a:t>
            </a:r>
            <a:endParaRPr lang="en-US" sz="2000" dirty="0"/>
          </a:p>
        </p:txBody>
      </p:sp>
      <p:sp>
        <p:nvSpPr>
          <p:cNvPr id="8" name="Shape 6"/>
          <p:cNvSpPr/>
          <p:nvPr/>
        </p:nvSpPr>
        <p:spPr>
          <a:xfrm>
            <a:off x="548640" y="2926080"/>
            <a:ext cx="11094415" cy="822960"/>
          </a:xfrm>
          <a:prstGeom prst="roundRect">
            <a:avLst>
              <a:gd name="adj" fmla="val 13333"/>
            </a:avLst>
          </a:prstGeom>
          <a:solidFill>
            <a:schemeClr val="bg1"/>
          </a:solidFill>
          <a:ln w="9525">
            <a:solidFill>
              <a:srgbClr val="E7E5E4"/>
            </a:solidFill>
            <a:prstDash val="solid"/>
          </a:ln>
        </p:spPr>
      </p:sp>
      <p:sp>
        <p:nvSpPr>
          <p:cNvPr id="9" name="Shape 7"/>
          <p:cNvSpPr/>
          <p:nvPr/>
        </p:nvSpPr>
        <p:spPr>
          <a:xfrm>
            <a:off x="914400" y="3200400"/>
            <a:ext cx="274320" cy="274320"/>
          </a:xfrm>
          <a:prstGeom prst="ellipse">
            <a:avLst/>
          </a:prstGeom>
          <a:solidFill>
            <a:schemeClr val="accent3"/>
          </a:solidFill>
          <a:ln/>
        </p:spPr>
      </p:sp>
      <p:sp>
        <p:nvSpPr>
          <p:cNvPr id="10" name="Text 8"/>
          <p:cNvSpPr txBox="1"/>
          <p:nvPr/>
        </p:nvSpPr>
        <p:spPr>
          <a:xfrm>
            <a:off x="1417320" y="3108960"/>
            <a:ext cx="2011680" cy="457200"/>
          </a:xfrm>
          <a:prstGeom prst="rect">
            <a:avLst/>
          </a:prstGeom>
          <a:noFill/>
          <a:ln/>
        </p:spPr>
        <p:txBody>
          <a:bodyPr wrap="square" lIns="0" tIns="0" rIns="0" bIns="0" rtlCol="0" anchor="ctr"/>
          <a:lstStyle/>
          <a:p>
            <a:pPr indent="0" marL="0">
              <a:buNone/>
            </a:pPr>
            <a:r>
              <a:rPr lang="en-US" sz="2000" b="1" dirty="0">
                <a:solidFill>
                  <a:schemeClr val="accent3"/>
                </a:solidFill>
              </a:rPr>
              <a:t>Attention</a:t>
            </a:r>
            <a:endParaRPr lang="en-US" sz="2000" dirty="0"/>
          </a:p>
        </p:txBody>
      </p:sp>
      <p:sp>
        <p:nvSpPr>
          <p:cNvPr id="11" name="Text 9"/>
          <p:cNvSpPr txBox="1"/>
          <p:nvPr/>
        </p:nvSpPr>
        <p:spPr>
          <a:xfrm>
            <a:off x="3474720" y="3108960"/>
            <a:ext cx="7802575" cy="457200"/>
          </a:xfrm>
          <a:prstGeom prst="rect">
            <a:avLst/>
          </a:prstGeom>
          <a:noFill/>
          <a:ln/>
        </p:spPr>
        <p:txBody>
          <a:bodyPr wrap="square" lIns="0" tIns="0" rIns="0" bIns="0" rtlCol="0" anchor="ctr"/>
          <a:lstStyle/>
          <a:p>
            <a:pPr indent="0" marL="0">
              <a:buNone/>
            </a:pPr>
            <a:r>
              <a:rPr lang="en-US" sz="2000" dirty="0">
                <a:solidFill>
                  <a:schemeClr val="tx1"/>
                </a:solidFill>
              </a:rPr>
              <a:t>“Wi-Fi not found: check the network name”</a:t>
            </a:r>
            <a:endParaRPr lang="en-US" sz="2000" dirty="0"/>
          </a:p>
        </p:txBody>
      </p:sp>
      <p:sp>
        <p:nvSpPr>
          <p:cNvPr id="12" name="Shape 10"/>
          <p:cNvSpPr/>
          <p:nvPr/>
        </p:nvSpPr>
        <p:spPr>
          <a:xfrm>
            <a:off x="548640" y="3931920"/>
            <a:ext cx="11094415" cy="822960"/>
          </a:xfrm>
          <a:prstGeom prst="roundRect">
            <a:avLst>
              <a:gd name="adj" fmla="val 13333"/>
            </a:avLst>
          </a:prstGeom>
          <a:solidFill>
            <a:schemeClr val="bg1"/>
          </a:solidFill>
          <a:ln w="9525">
            <a:solidFill>
              <a:srgbClr val="E7E5E4"/>
            </a:solidFill>
            <a:prstDash val="solid"/>
          </a:ln>
        </p:spPr>
      </p:sp>
      <p:sp>
        <p:nvSpPr>
          <p:cNvPr id="13" name="Shape 11"/>
          <p:cNvSpPr/>
          <p:nvPr/>
        </p:nvSpPr>
        <p:spPr>
          <a:xfrm>
            <a:off x="914400" y="4206240"/>
            <a:ext cx="274320" cy="274320"/>
          </a:xfrm>
          <a:prstGeom prst="ellipse">
            <a:avLst/>
          </a:prstGeom>
          <a:solidFill>
            <a:schemeClr val="accent1"/>
          </a:solidFill>
          <a:ln/>
        </p:spPr>
      </p:sp>
      <p:sp>
        <p:nvSpPr>
          <p:cNvPr id="14" name="Text 12"/>
          <p:cNvSpPr txBox="1"/>
          <p:nvPr/>
        </p:nvSpPr>
        <p:spPr>
          <a:xfrm>
            <a:off x="1417320" y="4114800"/>
            <a:ext cx="2011680" cy="457200"/>
          </a:xfrm>
          <a:prstGeom prst="rect">
            <a:avLst/>
          </a:prstGeom>
          <a:noFill/>
          <a:ln/>
        </p:spPr>
        <p:txBody>
          <a:bodyPr wrap="square" lIns="0" tIns="0" rIns="0" bIns="0" rtlCol="0" anchor="ctr"/>
          <a:lstStyle/>
          <a:p>
            <a:pPr indent="0" marL="0">
              <a:buNone/>
            </a:pPr>
            <a:r>
              <a:rPr lang="en-US" sz="2000" b="1" dirty="0">
                <a:solidFill>
                  <a:schemeClr val="accent1"/>
                </a:solidFill>
              </a:rPr>
              <a:t>Problem</a:t>
            </a:r>
            <a:endParaRPr lang="en-US" sz="2000" dirty="0"/>
          </a:p>
        </p:txBody>
      </p:sp>
      <p:sp>
        <p:nvSpPr>
          <p:cNvPr id="15" name="Text 13"/>
          <p:cNvSpPr txBox="1"/>
          <p:nvPr/>
        </p:nvSpPr>
        <p:spPr>
          <a:xfrm>
            <a:off x="3474720" y="4114800"/>
            <a:ext cx="7802575" cy="457200"/>
          </a:xfrm>
          <a:prstGeom prst="rect">
            <a:avLst/>
          </a:prstGeom>
          <a:noFill/>
          <a:ln/>
        </p:spPr>
        <p:txBody>
          <a:bodyPr wrap="square" lIns="0" tIns="0" rIns="0" bIns="0" rtlCol="0" anchor="ctr"/>
          <a:lstStyle/>
          <a:p>
            <a:pPr indent="0" marL="0">
              <a:buNone/>
            </a:pPr>
            <a:r>
              <a:rPr lang="en-US" sz="2000" dirty="0">
                <a:solidFill>
                  <a:schemeClr val="tx1"/>
                </a:solidFill>
              </a:rPr>
              <a:t>“Board keeps restarting (12 times) — software reset”</a:t>
            </a:r>
            <a:endParaRPr lang="en-US" sz="2000" dirty="0"/>
          </a:p>
        </p:txBody>
      </p:sp>
      <p:sp>
        <p:nvSpPr>
          <p:cNvPr id="16" name="Text 14"/>
          <p:cNvSpPr txBox="1"/>
          <p:nvPr/>
        </p:nvSpPr>
        <p:spPr>
          <a:xfrm>
            <a:off x="548640" y="5120640"/>
            <a:ext cx="11094415" cy="731520"/>
          </a:xfrm>
          <a:prstGeom prst="rect">
            <a:avLst/>
          </a:prstGeom>
          <a:noFill/>
          <a:ln/>
        </p:spPr>
        <p:txBody>
          <a:bodyPr wrap="square" lIns="0" tIns="0" rIns="0" bIns="0" rtlCol="0" anchor="ctr"/>
          <a:lstStyle/>
          <a:p>
            <a:pPr indent="0" marL="0">
              <a:buNone/>
            </a:pPr>
            <a:r>
              <a:rPr lang="en-US" sz="1600" dirty="0">
                <a:solidFill>
                  <a:schemeClr val="tx2"/>
                </a:solidFill>
              </a:rPr>
              <a:t>Found within 2 s of plugging in  ·  chip identified in one click  ·  serial monitor starts by itself  ·  reset reasons and Wi-Fi codes translated into words</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11094415" cy="365760"/>
          </a:xfrm>
          <a:prstGeom prst="rect">
            <a:avLst/>
          </a:prstGeom>
          <a:noFill/>
          <a:ln/>
        </p:spPr>
        <p:txBody>
          <a:bodyPr wrap="square" lIns="0" tIns="0" rIns="0" bIns="0" rtlCol="0"/>
          <a:lstStyle/>
          <a:p>
            <a:pPr indent="0" marL="0">
              <a:buNone/>
            </a:pPr>
            <a:r>
              <a:rPr lang="en-US" sz="1400" b="1" spc="200" kern="0" dirty="0">
                <a:solidFill>
                  <a:schemeClr val="accent1"/>
                </a:solidFill>
              </a:rPr>
              <a:t>AI DIAGNOSIS</a:t>
            </a:r>
            <a:endParaRPr lang="en-US" sz="1400" dirty="0"/>
          </a:p>
        </p:txBody>
      </p:sp>
      <p:sp>
        <p:nvSpPr>
          <p:cNvPr id="3" name="Text 0"/>
          <p:cNvSpPr/>
          <p:nvPr>
            <p:ph idx="101" type="title" hasCustomPrompt="1"/>
          </p:nvPr>
        </p:nvSpPr>
        <p:spPr>
          <a:xfrm>
            <a:off x="548640" y="777240"/>
            <a:ext cx="11094415" cy="822960"/>
          </a:xfrm>
          <a:prstGeom prst="rect">
            <a:avLst/>
          </a:prstGeom>
          <a:noFill/>
          <a:ln/>
        </p:spPr>
        <p:txBody>
          <a:bodyPr wrap="square" lIns="0" tIns="0" rIns="0" bIns="0" rtlCol="0" anchor="t"/>
          <a:lstStyle/>
          <a:p>
            <a:pPr algn="l" indent="0" marL="0">
              <a:buNone/>
            </a:pPr>
            <a:r>
              <a:rPr lang="en-US" sz="3600" b="1" dirty="0">
                <a:solidFill>
                  <a:schemeClr val="tx1"/>
                </a:solidFill>
              </a:rPr>
              <a:t>One click asks NVIDIA Nemotron why</a:t>
            </a:r>
            <a:endParaRPr lang="en-US" sz="3600" dirty="0"/>
          </a:p>
        </p:txBody>
      </p:sp>
      <p:sp>
        <p:nvSpPr>
          <p:cNvPr id="4" name="Shape 2"/>
          <p:cNvSpPr/>
          <p:nvPr/>
        </p:nvSpPr>
        <p:spPr>
          <a:xfrm>
            <a:off x="548640" y="1920240"/>
            <a:ext cx="3271418" cy="1828800"/>
          </a:xfrm>
          <a:prstGeom prst="roundRect">
            <a:avLst>
              <a:gd name="adj" fmla="val 6000"/>
            </a:avLst>
          </a:prstGeom>
          <a:solidFill>
            <a:schemeClr val="bg1"/>
          </a:solidFill>
          <a:ln w="9525">
            <a:solidFill>
              <a:srgbClr val="E7E5E4"/>
            </a:solidFill>
            <a:prstDash val="solid"/>
          </a:ln>
        </p:spPr>
      </p:sp>
      <p:sp>
        <p:nvSpPr>
          <p:cNvPr id="5" name="Text 3"/>
          <p:cNvSpPr txBox="1"/>
          <p:nvPr/>
        </p:nvSpPr>
        <p:spPr>
          <a:xfrm>
            <a:off x="822960" y="2194560"/>
            <a:ext cx="2722778" cy="411480"/>
          </a:xfrm>
          <a:prstGeom prst="rect">
            <a:avLst/>
          </a:prstGeom>
          <a:noFill/>
          <a:ln/>
        </p:spPr>
        <p:txBody>
          <a:bodyPr wrap="square" lIns="0" tIns="0" rIns="0" bIns="0" rtlCol="0" anchor="ctr"/>
          <a:lstStyle/>
          <a:p>
            <a:pPr indent="0" marL="0">
              <a:buNone/>
            </a:pPr>
            <a:r>
              <a:rPr lang="en-US" sz="2000" b="1" dirty="0">
                <a:solidFill>
                  <a:schemeClr val="tx1"/>
                </a:solidFill>
              </a:rPr>
              <a:t>What is sent</a:t>
            </a:r>
            <a:endParaRPr lang="en-US" sz="2000" dirty="0"/>
          </a:p>
        </p:txBody>
      </p:sp>
      <p:sp>
        <p:nvSpPr>
          <p:cNvPr id="6" name="Text 4"/>
          <p:cNvSpPr txBox="1"/>
          <p:nvPr/>
        </p:nvSpPr>
        <p:spPr>
          <a:xfrm>
            <a:off x="822960" y="2697480"/>
            <a:ext cx="2722778" cy="914400"/>
          </a:xfrm>
          <a:prstGeom prst="rect">
            <a:avLst/>
          </a:prstGeom>
          <a:noFill/>
          <a:ln/>
        </p:spPr>
        <p:txBody>
          <a:bodyPr wrap="square" lIns="0" tIns="0" rIns="0" bIns="0" rtlCol="0" anchor="ctr"/>
          <a:lstStyle/>
          <a:p>
            <a:pPr indent="0" marL="0">
              <a:buNone/>
            </a:pPr>
            <a:r>
              <a:rPr lang="en-US" sz="1500" dirty="0">
                <a:solidFill>
                  <a:schemeClr val="tx2"/>
                </a:solidFill>
              </a:rPr>
              <a:t>Chip facts, the monitor’s summary and the last 80 log lines. Only when you click.</a:t>
            </a:r>
            <a:endParaRPr lang="en-US" sz="1500" dirty="0"/>
          </a:p>
        </p:txBody>
      </p:sp>
      <p:sp>
        <p:nvSpPr>
          <p:cNvPr id="7" name="Shape 5"/>
          <p:cNvSpPr/>
          <p:nvPr/>
        </p:nvSpPr>
        <p:spPr>
          <a:xfrm>
            <a:off x="3975506" y="2697480"/>
            <a:ext cx="329184" cy="274320"/>
          </a:xfrm>
          <a:prstGeom prst="rightArrow">
            <a:avLst/>
          </a:prstGeom>
          <a:solidFill>
            <a:schemeClr val="accent1"/>
          </a:solidFill>
          <a:ln/>
        </p:spPr>
      </p:sp>
      <p:sp>
        <p:nvSpPr>
          <p:cNvPr id="8" name="Shape 6"/>
          <p:cNvSpPr/>
          <p:nvPr/>
        </p:nvSpPr>
        <p:spPr>
          <a:xfrm>
            <a:off x="4460138" y="1920240"/>
            <a:ext cx="3271418" cy="1828800"/>
          </a:xfrm>
          <a:prstGeom prst="roundRect">
            <a:avLst>
              <a:gd name="adj" fmla="val 6000"/>
            </a:avLst>
          </a:prstGeom>
          <a:solidFill>
            <a:schemeClr val="tx1"/>
          </a:solidFill>
          <a:ln/>
        </p:spPr>
      </p:sp>
      <p:sp>
        <p:nvSpPr>
          <p:cNvPr id="9" name="Text 7"/>
          <p:cNvSpPr txBox="1"/>
          <p:nvPr/>
        </p:nvSpPr>
        <p:spPr>
          <a:xfrm>
            <a:off x="4734458" y="2194560"/>
            <a:ext cx="2722778" cy="411480"/>
          </a:xfrm>
          <a:prstGeom prst="rect">
            <a:avLst/>
          </a:prstGeom>
          <a:noFill/>
          <a:ln/>
        </p:spPr>
        <p:txBody>
          <a:bodyPr wrap="square" lIns="0" tIns="0" rIns="0" bIns="0" rtlCol="0" anchor="ctr"/>
          <a:lstStyle/>
          <a:p>
            <a:pPr indent="0" marL="0">
              <a:buNone/>
            </a:pPr>
            <a:r>
              <a:rPr lang="en-US" sz="2000" b="1" dirty="0">
                <a:solidFill>
                  <a:schemeClr val="bg1"/>
                </a:solidFill>
              </a:rPr>
              <a:t>Nemotron 3.5 Lightning</a:t>
            </a:r>
            <a:endParaRPr lang="en-US" sz="2000" dirty="0"/>
          </a:p>
        </p:txBody>
      </p:sp>
      <p:sp>
        <p:nvSpPr>
          <p:cNvPr id="10" name="Text 8"/>
          <p:cNvSpPr txBox="1"/>
          <p:nvPr/>
        </p:nvSpPr>
        <p:spPr>
          <a:xfrm>
            <a:off x="4734458" y="2697480"/>
            <a:ext cx="2722778" cy="914400"/>
          </a:xfrm>
          <a:prstGeom prst="rect">
            <a:avLst/>
          </a:prstGeom>
          <a:noFill/>
          <a:ln/>
        </p:spPr>
        <p:txBody>
          <a:bodyPr wrap="square" lIns="0" tIns="0" rIns="0" bIns="0" rtlCol="0" anchor="ctr"/>
          <a:lstStyle/>
          <a:p>
            <a:pPr indent="0" marL="0">
              <a:buNone/>
            </a:pPr>
            <a:r>
              <a:rPr lang="en-US" sz="1500" dirty="0">
                <a:solidFill>
                  <a:schemeClr val="accent6"/>
                </a:solidFill>
              </a:rPr>
              <a:t>On Nebius Token Factory, OpenAI-compatible API, about 2 seconds.</a:t>
            </a:r>
            <a:endParaRPr lang="en-US" sz="1500" dirty="0"/>
          </a:p>
        </p:txBody>
      </p:sp>
      <p:sp>
        <p:nvSpPr>
          <p:cNvPr id="11" name="Shape 9"/>
          <p:cNvSpPr/>
          <p:nvPr/>
        </p:nvSpPr>
        <p:spPr>
          <a:xfrm>
            <a:off x="7887005" y="2697480"/>
            <a:ext cx="329184" cy="274320"/>
          </a:xfrm>
          <a:prstGeom prst="rightArrow">
            <a:avLst/>
          </a:prstGeom>
          <a:solidFill>
            <a:schemeClr val="accent1"/>
          </a:solidFill>
          <a:ln/>
        </p:spPr>
      </p:sp>
      <p:sp>
        <p:nvSpPr>
          <p:cNvPr id="12" name="Shape 10"/>
          <p:cNvSpPr/>
          <p:nvPr/>
        </p:nvSpPr>
        <p:spPr>
          <a:xfrm>
            <a:off x="8371637" y="1920240"/>
            <a:ext cx="3271418" cy="1828800"/>
          </a:xfrm>
          <a:prstGeom prst="roundRect">
            <a:avLst>
              <a:gd name="adj" fmla="val 6000"/>
            </a:avLst>
          </a:prstGeom>
          <a:solidFill>
            <a:schemeClr val="bg1"/>
          </a:solidFill>
          <a:ln w="9525">
            <a:solidFill>
              <a:srgbClr val="E7E5E4"/>
            </a:solidFill>
            <a:prstDash val="solid"/>
          </a:ln>
        </p:spPr>
      </p:sp>
      <p:sp>
        <p:nvSpPr>
          <p:cNvPr id="13" name="Text 11"/>
          <p:cNvSpPr txBox="1"/>
          <p:nvPr/>
        </p:nvSpPr>
        <p:spPr>
          <a:xfrm>
            <a:off x="8645957" y="2194560"/>
            <a:ext cx="2722778" cy="411480"/>
          </a:xfrm>
          <a:prstGeom prst="rect">
            <a:avLst/>
          </a:prstGeom>
          <a:noFill/>
          <a:ln/>
        </p:spPr>
        <p:txBody>
          <a:bodyPr wrap="square" lIns="0" tIns="0" rIns="0" bIns="0" rtlCol="0" anchor="ctr"/>
          <a:lstStyle/>
          <a:p>
            <a:pPr indent="0" marL="0">
              <a:buNone/>
            </a:pPr>
            <a:r>
              <a:rPr lang="en-US" sz="2000" b="1" dirty="0">
                <a:solidFill>
                  <a:schemeClr val="tx1"/>
                </a:solidFill>
              </a:rPr>
              <a:t>What comes back</a:t>
            </a:r>
            <a:endParaRPr lang="en-US" sz="2000" dirty="0"/>
          </a:p>
        </p:txBody>
      </p:sp>
      <p:sp>
        <p:nvSpPr>
          <p:cNvPr id="14" name="Text 12"/>
          <p:cNvSpPr txBox="1"/>
          <p:nvPr/>
        </p:nvSpPr>
        <p:spPr>
          <a:xfrm>
            <a:off x="8645957" y="2697480"/>
            <a:ext cx="2722778" cy="914400"/>
          </a:xfrm>
          <a:prstGeom prst="rect">
            <a:avLst/>
          </a:prstGeom>
          <a:noFill/>
          <a:ln/>
        </p:spPr>
        <p:txBody>
          <a:bodyPr wrap="square" lIns="0" tIns="0" rIns="0" bIns="0" rtlCol="0" anchor="ctr"/>
          <a:lstStyle/>
          <a:p>
            <a:pPr indent="0" marL="0">
              <a:buNone/>
            </a:pPr>
            <a:r>
              <a:rPr lang="en-US" sz="1500" dirty="0">
                <a:solidFill>
                  <a:schemeClr val="tx2"/>
                </a:solidFill>
              </a:rPr>
              <a:t>Root cause with the log line that proves it, up to 4 fix steps, a confidence level.</a:t>
            </a:r>
            <a:endParaRPr lang="en-US" sz="1500" dirty="0"/>
          </a:p>
        </p:txBody>
      </p:sp>
      <p:sp>
        <p:nvSpPr>
          <p:cNvPr id="15" name="Shape 13"/>
          <p:cNvSpPr/>
          <p:nvPr/>
        </p:nvSpPr>
        <p:spPr>
          <a:xfrm>
            <a:off x="548640" y="4114800"/>
            <a:ext cx="11094415" cy="1600200"/>
          </a:xfrm>
          <a:prstGeom prst="roundRect">
            <a:avLst>
              <a:gd name="adj" fmla="val 6857"/>
            </a:avLst>
          </a:prstGeom>
          <a:solidFill>
            <a:srgbClr val="FFF1F0"/>
          </a:solidFill>
          <a:ln/>
        </p:spPr>
      </p:sp>
      <p:sp>
        <p:nvSpPr>
          <p:cNvPr id="16" name="Text 14"/>
          <p:cNvSpPr txBox="1"/>
          <p:nvPr/>
        </p:nvSpPr>
        <p:spPr>
          <a:xfrm>
            <a:off x="914400" y="4343400"/>
            <a:ext cx="10362895" cy="777240"/>
          </a:xfrm>
          <a:prstGeom prst="rect">
            <a:avLst/>
          </a:prstGeom>
          <a:noFill/>
          <a:ln/>
        </p:spPr>
        <p:txBody>
          <a:bodyPr wrap="square" lIns="0" tIns="0" rIns="0" bIns="0" rtlCol="0" anchor="ctr"/>
          <a:lstStyle/>
          <a:p>
            <a:pPr indent="0" marL="0">
              <a:buNone/>
            </a:pPr>
            <a:r>
              <a:rPr lang="en-US" sz="1800" b="1" dirty="0">
                <a:solidFill>
                  <a:schemeClr val="tx1"/>
                </a:solidFill>
              </a:rPr>
              <a:t>Real answer:  </a:t>
            </a:r>
            <a:pPr indent="0" marL="0">
              <a:buNone/>
            </a:pPr>
            <a:r>
              <a:rPr lang="en-US" sz="1800" dirty="0">
                <a:solidFill>
                  <a:schemeClr val="tx1"/>
                </a:solidFill>
              </a:rPr>
              <a:t>“Task watchdog timeout — loopTask never feeds the watchdog while processing the sensor queue, so the system resets.”</a:t>
            </a:r>
            <a:endParaRPr lang="en-US" sz="1800" dirty="0"/>
          </a:p>
        </p:txBody>
      </p:sp>
      <p:sp>
        <p:nvSpPr>
          <p:cNvPr id="17" name="Text 15"/>
          <p:cNvSpPr txBox="1"/>
          <p:nvPr/>
        </p:nvSpPr>
        <p:spPr>
          <a:xfrm>
            <a:off x="914400" y="5166360"/>
            <a:ext cx="10362895" cy="365760"/>
          </a:xfrm>
          <a:prstGeom prst="rect">
            <a:avLst/>
          </a:prstGeom>
          <a:noFill/>
          <a:ln/>
        </p:spPr>
        <p:txBody>
          <a:bodyPr wrap="square" lIns="0" tIns="0" rIns="0" bIns="0" rtlCol="0" anchor="ctr"/>
          <a:lstStyle/>
          <a:p>
            <a:pPr indent="0" marL="0">
              <a:buNone/>
            </a:pPr>
            <a:r>
              <a:rPr lang="en-US" sz="1400" dirty="0">
                <a:solidFill>
                  <a:schemeClr val="tx2"/>
                </a:solidFill>
              </a:rPr>
              <a:t>Confidence: high  ·  nvidia/Nemotron-3_5-Lightning  ·  2.0 s</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1828800"/>
            <a:ext cx="10972800" cy="2011680"/>
          </a:xfrm>
          <a:prstGeom prst="rect">
            <a:avLst/>
          </a:prstGeom>
          <a:noFill/>
          <a:ln/>
        </p:spPr>
        <p:txBody>
          <a:bodyPr wrap="square" lIns="0" tIns="0" rIns="0" bIns="0" rtlCol="0" anchor="ctr"/>
          <a:lstStyle/>
          <a:p>
            <a:pPr indent="0" marL="0">
              <a:buNone/>
            </a:pPr>
            <a:r>
              <a:rPr lang="en-US" sz="5400" b="1" dirty="0">
                <a:solidFill>
                  <a:schemeClr val="bg1"/>
                </a:solidFill>
              </a:rPr>
              <a:t>From reboot loop</a:t>
            </a:r>
            <a:endParaRPr lang="en-US" sz="5400" dirty="0"/>
          </a:p>
          <a:p>
            <a:pPr indent="0" marL="0">
              <a:buNone/>
            </a:pPr>
            <a:r>
              <a:rPr lang="en-US" sz="5400" b="1" dirty="0">
                <a:solidFill>
                  <a:schemeClr val="bg1"/>
                </a:solidFill>
              </a:rPr>
              <a:t>to root cause in 2 seconds</a:t>
            </a:r>
            <a:endParaRPr lang="en-US" sz="5400" dirty="0"/>
          </a:p>
        </p:txBody>
      </p:sp>
      <p:sp>
        <p:nvSpPr>
          <p:cNvPr id="3" name="Text 1"/>
          <p:cNvSpPr txBox="1"/>
          <p:nvPr/>
        </p:nvSpPr>
        <p:spPr>
          <a:xfrm>
            <a:off x="548640" y="4023360"/>
            <a:ext cx="9144000" cy="822960"/>
          </a:xfrm>
          <a:prstGeom prst="rect">
            <a:avLst/>
          </a:prstGeom>
          <a:noFill/>
          <a:ln/>
        </p:spPr>
        <p:txBody>
          <a:bodyPr wrap="square" lIns="0" tIns="0" rIns="0" bIns="0" rtlCol="0" anchor="ctr"/>
          <a:lstStyle/>
          <a:p>
            <a:pPr indent="0" marL="0">
              <a:buNone/>
            </a:pPr>
            <a:r>
              <a:rPr lang="en-US" sz="2200" dirty="0">
                <a:solidFill>
                  <a:srgbClr val="FFF1F0"/>
                </a:solidFill>
              </a:rPr>
              <a:t>No log reading, no searching. The AI points at the exact line and tells you what to change.</a:t>
            </a:r>
            <a:endParaRPr lang="en-US" sz="2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11094415" cy="365760"/>
          </a:xfrm>
          <a:prstGeom prst="rect">
            <a:avLst/>
          </a:prstGeom>
          <a:noFill/>
          <a:ln/>
        </p:spPr>
        <p:txBody>
          <a:bodyPr wrap="square" lIns="0" tIns="0" rIns="0" bIns="0" rtlCol="0"/>
          <a:lstStyle/>
          <a:p>
            <a:pPr indent="0" marL="0">
              <a:buNone/>
            </a:pPr>
            <a:r>
              <a:rPr lang="en-US" sz="1400" b="1" spc="200" kern="0" dirty="0">
                <a:solidFill>
                  <a:schemeClr val="accent1"/>
                </a:solidFill>
              </a:rPr>
              <a:t>SAFE BY DESIGN</a:t>
            </a:r>
            <a:endParaRPr lang="en-US" sz="1400" dirty="0"/>
          </a:p>
        </p:txBody>
      </p:sp>
      <p:sp>
        <p:nvSpPr>
          <p:cNvPr id="3" name="Text 0"/>
          <p:cNvSpPr/>
          <p:nvPr>
            <p:ph idx="101" type="title" hasCustomPrompt="1"/>
          </p:nvPr>
        </p:nvSpPr>
        <p:spPr>
          <a:xfrm>
            <a:off x="548640" y="777240"/>
            <a:ext cx="11094415" cy="822960"/>
          </a:xfrm>
          <a:prstGeom prst="rect">
            <a:avLst/>
          </a:prstGeom>
          <a:noFill/>
          <a:ln/>
        </p:spPr>
        <p:txBody>
          <a:bodyPr wrap="square" lIns="0" tIns="0" rIns="0" bIns="0" rtlCol="0" anchor="t"/>
          <a:lstStyle/>
          <a:p>
            <a:pPr algn="l" indent="0" marL="0">
              <a:buNone/>
            </a:pPr>
            <a:r>
              <a:rPr lang="en-US" sz="3600" b="1" dirty="0">
                <a:solidFill>
                  <a:schemeClr val="tx1"/>
                </a:solidFill>
              </a:rPr>
              <a:t>Hardware mistakes are hard to undo</a:t>
            </a:r>
            <a:endParaRPr lang="en-US" sz="3600" dirty="0"/>
          </a:p>
        </p:txBody>
      </p:sp>
      <p:sp>
        <p:nvSpPr>
          <p:cNvPr id="4" name="Shape 2"/>
          <p:cNvSpPr/>
          <p:nvPr/>
        </p:nvSpPr>
        <p:spPr>
          <a:xfrm>
            <a:off x="548640" y="1920240"/>
            <a:ext cx="5364328" cy="1874520"/>
          </a:xfrm>
          <a:prstGeom prst="roundRect">
            <a:avLst>
              <a:gd name="adj" fmla="val 5854"/>
            </a:avLst>
          </a:prstGeom>
          <a:solidFill>
            <a:schemeClr val="bg1"/>
          </a:solidFill>
          <a:ln w="9525">
            <a:solidFill>
              <a:srgbClr val="E7E5E4"/>
            </a:solidFill>
            <a:prstDash val="solid"/>
          </a:ln>
        </p:spPr>
      </p:sp>
      <p:sp>
        <p:nvSpPr>
          <p:cNvPr id="5" name="Shape 3"/>
          <p:cNvSpPr/>
          <p:nvPr/>
        </p:nvSpPr>
        <p:spPr>
          <a:xfrm>
            <a:off x="914400" y="2286000"/>
            <a:ext cx="457200" cy="457200"/>
          </a:xfrm>
          <a:prstGeom prst="ellipse">
            <a:avLst/>
          </a:prstGeom>
          <a:solidFill>
            <a:srgbClr val="FFF1F0"/>
          </a:solidFill>
          <a:ln/>
        </p:spPr>
      </p:sp>
      <p:sp>
        <p:nvSpPr>
          <p:cNvPr id="6" name="Text 4"/>
          <p:cNvSpPr txBox="1"/>
          <p:nvPr/>
        </p:nvSpPr>
        <p:spPr>
          <a:xfrm>
            <a:off x="914400" y="2286000"/>
            <a:ext cx="457200" cy="457200"/>
          </a:xfrm>
          <a:prstGeom prst="rect">
            <a:avLst/>
          </a:prstGeom>
          <a:noFill/>
          <a:ln/>
        </p:spPr>
        <p:txBody>
          <a:bodyPr wrap="square" lIns="0" tIns="0" rIns="0" bIns="0" rtlCol="0" anchor="ctr"/>
          <a:lstStyle/>
          <a:p>
            <a:pPr algn="ctr" indent="0" marL="0">
              <a:buNone/>
            </a:pPr>
            <a:r>
              <a:rPr lang="en-US" sz="1600" b="1" dirty="0">
                <a:solidFill>
                  <a:schemeClr val="accent1"/>
                </a:solidFill>
              </a:rPr>
              <a:t>1</a:t>
            </a:r>
            <a:endParaRPr lang="en-US" sz="1600" dirty="0"/>
          </a:p>
        </p:txBody>
      </p:sp>
      <p:sp>
        <p:nvSpPr>
          <p:cNvPr id="7" name="Text 5"/>
          <p:cNvSpPr txBox="1"/>
          <p:nvPr/>
        </p:nvSpPr>
        <p:spPr>
          <a:xfrm>
            <a:off x="1554480" y="2286000"/>
            <a:ext cx="3992728" cy="457200"/>
          </a:xfrm>
          <a:prstGeom prst="rect">
            <a:avLst/>
          </a:prstGeom>
          <a:noFill/>
          <a:ln/>
        </p:spPr>
        <p:txBody>
          <a:bodyPr wrap="square" lIns="0" tIns="0" rIns="0" bIns="0" rtlCol="0" anchor="ctr"/>
          <a:lstStyle/>
          <a:p>
            <a:pPr indent="0" marL="0">
              <a:buNone/>
            </a:pPr>
            <a:r>
              <a:rPr lang="en-US" sz="2200" b="1" dirty="0">
                <a:solidFill>
                  <a:schemeClr val="tx1"/>
                </a:solidFill>
              </a:rPr>
              <a:t>Read-only by default</a:t>
            </a:r>
            <a:endParaRPr lang="en-US" sz="2200" dirty="0"/>
          </a:p>
        </p:txBody>
      </p:sp>
      <p:sp>
        <p:nvSpPr>
          <p:cNvPr id="8" name="Text 6"/>
          <p:cNvSpPr txBox="1"/>
          <p:nvPr/>
        </p:nvSpPr>
        <p:spPr>
          <a:xfrm>
            <a:off x="1554480" y="2880360"/>
            <a:ext cx="3992728" cy="731520"/>
          </a:xfrm>
          <a:prstGeom prst="rect">
            <a:avLst/>
          </a:prstGeom>
          <a:noFill/>
          <a:ln/>
        </p:spPr>
        <p:txBody>
          <a:bodyPr wrap="square" lIns="0" tIns="0" rIns="0" bIns="0" rtlCol="0" anchor="ctr"/>
          <a:lstStyle/>
          <a:p>
            <a:pPr indent="0" marL="0">
              <a:buNone/>
            </a:pPr>
            <a:r>
              <a:rPr lang="en-US" sz="1600" dirty="0">
                <a:solidFill>
                  <a:schemeClr val="tx2"/>
                </a:solidFill>
              </a:rPr>
              <a:t>Scan, identify and monitor never write. Flashing is the only write.</a:t>
            </a:r>
            <a:endParaRPr lang="en-US" sz="1600" dirty="0"/>
          </a:p>
        </p:txBody>
      </p:sp>
      <p:sp>
        <p:nvSpPr>
          <p:cNvPr id="9" name="Shape 7"/>
          <p:cNvSpPr/>
          <p:nvPr/>
        </p:nvSpPr>
        <p:spPr>
          <a:xfrm>
            <a:off x="6278728" y="1920240"/>
            <a:ext cx="5364328" cy="1874520"/>
          </a:xfrm>
          <a:prstGeom prst="roundRect">
            <a:avLst>
              <a:gd name="adj" fmla="val 5854"/>
            </a:avLst>
          </a:prstGeom>
          <a:solidFill>
            <a:schemeClr val="bg1"/>
          </a:solidFill>
          <a:ln w="9525">
            <a:solidFill>
              <a:srgbClr val="E7E5E4"/>
            </a:solidFill>
            <a:prstDash val="solid"/>
          </a:ln>
        </p:spPr>
      </p:sp>
      <p:sp>
        <p:nvSpPr>
          <p:cNvPr id="10" name="Shape 8"/>
          <p:cNvSpPr/>
          <p:nvPr/>
        </p:nvSpPr>
        <p:spPr>
          <a:xfrm>
            <a:off x="6644488" y="2286000"/>
            <a:ext cx="457200" cy="457200"/>
          </a:xfrm>
          <a:prstGeom prst="ellipse">
            <a:avLst/>
          </a:prstGeom>
          <a:solidFill>
            <a:srgbClr val="FFF1F0"/>
          </a:solidFill>
          <a:ln/>
        </p:spPr>
      </p:sp>
      <p:sp>
        <p:nvSpPr>
          <p:cNvPr id="11" name="Text 9"/>
          <p:cNvSpPr txBox="1"/>
          <p:nvPr/>
        </p:nvSpPr>
        <p:spPr>
          <a:xfrm>
            <a:off x="6644488" y="2286000"/>
            <a:ext cx="457200" cy="457200"/>
          </a:xfrm>
          <a:prstGeom prst="rect">
            <a:avLst/>
          </a:prstGeom>
          <a:noFill/>
          <a:ln/>
        </p:spPr>
        <p:txBody>
          <a:bodyPr wrap="square" lIns="0" tIns="0" rIns="0" bIns="0" rtlCol="0" anchor="ctr"/>
          <a:lstStyle/>
          <a:p>
            <a:pPr algn="ctr" indent="0" marL="0">
              <a:buNone/>
            </a:pPr>
            <a:r>
              <a:rPr lang="en-US" sz="1600" b="1" dirty="0">
                <a:solidFill>
                  <a:schemeClr val="accent1"/>
                </a:solidFill>
              </a:rPr>
              <a:t>2</a:t>
            </a:r>
            <a:endParaRPr lang="en-US" sz="1600" dirty="0"/>
          </a:p>
        </p:txBody>
      </p:sp>
      <p:sp>
        <p:nvSpPr>
          <p:cNvPr id="12" name="Text 10"/>
          <p:cNvSpPr txBox="1"/>
          <p:nvPr/>
        </p:nvSpPr>
        <p:spPr>
          <a:xfrm>
            <a:off x="7284568" y="2286000"/>
            <a:ext cx="3992728" cy="457200"/>
          </a:xfrm>
          <a:prstGeom prst="rect">
            <a:avLst/>
          </a:prstGeom>
          <a:noFill/>
          <a:ln/>
        </p:spPr>
        <p:txBody>
          <a:bodyPr wrap="square" lIns="0" tIns="0" rIns="0" bIns="0" rtlCol="0" anchor="ctr"/>
          <a:lstStyle/>
          <a:p>
            <a:pPr indent="0" marL="0">
              <a:buNone/>
            </a:pPr>
            <a:r>
              <a:rPr lang="en-US" sz="2200" b="1" dirty="0">
                <a:solidFill>
                  <a:schemeClr val="tx1"/>
                </a:solidFill>
              </a:rPr>
              <a:t>Flashing always asks first</a:t>
            </a:r>
            <a:endParaRPr lang="en-US" sz="2200" dirty="0"/>
          </a:p>
        </p:txBody>
      </p:sp>
      <p:sp>
        <p:nvSpPr>
          <p:cNvPr id="13" name="Text 11"/>
          <p:cNvSpPr txBox="1"/>
          <p:nvPr/>
        </p:nvSpPr>
        <p:spPr>
          <a:xfrm>
            <a:off x="7284568" y="2880360"/>
            <a:ext cx="3992728" cy="731520"/>
          </a:xfrm>
          <a:prstGeom prst="rect">
            <a:avLst/>
          </a:prstGeom>
          <a:noFill/>
          <a:ln/>
        </p:spPr>
        <p:txBody>
          <a:bodyPr wrap="square" lIns="0" tIns="0" rIns="0" bIns="0" rtlCol="0" anchor="ctr"/>
          <a:lstStyle/>
          <a:p>
            <a:pPr indent="0" marL="0">
              <a:buNone/>
            </a:pPr>
            <a:r>
              <a:rPr lang="en-US" sz="1600" dirty="0">
                <a:solidFill>
                  <a:schemeClr val="tx2"/>
                </a:solidFill>
              </a:rPr>
              <a:t>A card shows port, file, size and time. The AI agent must ask you too.</a:t>
            </a:r>
            <a:endParaRPr lang="en-US" sz="1600" dirty="0"/>
          </a:p>
        </p:txBody>
      </p:sp>
      <p:sp>
        <p:nvSpPr>
          <p:cNvPr id="14" name="Shape 12"/>
          <p:cNvSpPr/>
          <p:nvPr/>
        </p:nvSpPr>
        <p:spPr>
          <a:xfrm>
            <a:off x="548640" y="4069080"/>
            <a:ext cx="5364328" cy="1874520"/>
          </a:xfrm>
          <a:prstGeom prst="roundRect">
            <a:avLst>
              <a:gd name="adj" fmla="val 5854"/>
            </a:avLst>
          </a:prstGeom>
          <a:solidFill>
            <a:schemeClr val="bg1"/>
          </a:solidFill>
          <a:ln w="9525">
            <a:solidFill>
              <a:srgbClr val="E7E5E4"/>
            </a:solidFill>
            <a:prstDash val="solid"/>
          </a:ln>
        </p:spPr>
      </p:sp>
      <p:sp>
        <p:nvSpPr>
          <p:cNvPr id="15" name="Shape 13"/>
          <p:cNvSpPr/>
          <p:nvPr/>
        </p:nvSpPr>
        <p:spPr>
          <a:xfrm>
            <a:off x="914400" y="4434840"/>
            <a:ext cx="457200" cy="457200"/>
          </a:xfrm>
          <a:prstGeom prst="ellipse">
            <a:avLst/>
          </a:prstGeom>
          <a:solidFill>
            <a:srgbClr val="FFF1F0"/>
          </a:solidFill>
          <a:ln/>
        </p:spPr>
      </p:sp>
      <p:sp>
        <p:nvSpPr>
          <p:cNvPr id="16" name="Text 14"/>
          <p:cNvSpPr txBox="1"/>
          <p:nvPr/>
        </p:nvSpPr>
        <p:spPr>
          <a:xfrm>
            <a:off x="914400" y="4434840"/>
            <a:ext cx="457200" cy="457200"/>
          </a:xfrm>
          <a:prstGeom prst="rect">
            <a:avLst/>
          </a:prstGeom>
          <a:noFill/>
          <a:ln/>
        </p:spPr>
        <p:txBody>
          <a:bodyPr wrap="square" lIns="0" tIns="0" rIns="0" bIns="0" rtlCol="0" anchor="ctr"/>
          <a:lstStyle/>
          <a:p>
            <a:pPr algn="ctr" indent="0" marL="0">
              <a:buNone/>
            </a:pPr>
            <a:r>
              <a:rPr lang="en-US" sz="1600" b="1" dirty="0">
                <a:solidFill>
                  <a:schemeClr val="accent1"/>
                </a:solidFill>
              </a:rPr>
              <a:t>3</a:t>
            </a:r>
            <a:endParaRPr lang="en-US" sz="1600" dirty="0"/>
          </a:p>
        </p:txBody>
      </p:sp>
      <p:sp>
        <p:nvSpPr>
          <p:cNvPr id="17" name="Text 15"/>
          <p:cNvSpPr txBox="1"/>
          <p:nvPr/>
        </p:nvSpPr>
        <p:spPr>
          <a:xfrm>
            <a:off x="1554480" y="4434840"/>
            <a:ext cx="3992728" cy="457200"/>
          </a:xfrm>
          <a:prstGeom prst="rect">
            <a:avLst/>
          </a:prstGeom>
          <a:noFill/>
          <a:ln/>
        </p:spPr>
        <p:txBody>
          <a:bodyPr wrap="square" lIns="0" tIns="0" rIns="0" bIns="0" rtlCol="0" anchor="ctr"/>
          <a:lstStyle/>
          <a:p>
            <a:pPr indent="0" marL="0">
              <a:buNone/>
            </a:pPr>
            <a:r>
              <a:rPr lang="en-US" sz="2200" b="1" dirty="0">
                <a:solidFill>
                  <a:schemeClr val="tx1"/>
                </a:solidFill>
              </a:rPr>
              <a:t>Image checks</a:t>
            </a:r>
            <a:endParaRPr lang="en-US" sz="2200" dirty="0"/>
          </a:p>
        </p:txBody>
      </p:sp>
      <p:sp>
        <p:nvSpPr>
          <p:cNvPr id="18" name="Text 16"/>
          <p:cNvSpPr txBox="1"/>
          <p:nvPr/>
        </p:nvSpPr>
        <p:spPr>
          <a:xfrm>
            <a:off x="1554480" y="5029200"/>
            <a:ext cx="3992728" cy="731520"/>
          </a:xfrm>
          <a:prstGeom prst="rect">
            <a:avLst/>
          </a:prstGeom>
          <a:noFill/>
          <a:ln/>
        </p:spPr>
        <p:txBody>
          <a:bodyPr wrap="square" lIns="0" tIns="0" rIns="0" bIns="0" rtlCol="0" anchor="ctr"/>
          <a:lstStyle/>
          <a:p>
            <a:pPr indent="0" marL="0">
              <a:buNone/>
            </a:pPr>
            <a:r>
              <a:rPr lang="en-US" sz="1600" dirty="0">
                <a:solidFill>
                  <a:schemeClr val="tx2"/>
                </a:solidFill>
              </a:rPr>
              <a:t>Wrong chip or a partial image is refused before the chip is touched.</a:t>
            </a:r>
            <a:endParaRPr lang="en-US" sz="1600" dirty="0"/>
          </a:p>
        </p:txBody>
      </p:sp>
      <p:sp>
        <p:nvSpPr>
          <p:cNvPr id="19" name="Shape 17"/>
          <p:cNvSpPr/>
          <p:nvPr/>
        </p:nvSpPr>
        <p:spPr>
          <a:xfrm>
            <a:off x="6278728" y="4069080"/>
            <a:ext cx="5364328" cy="1874520"/>
          </a:xfrm>
          <a:prstGeom prst="roundRect">
            <a:avLst>
              <a:gd name="adj" fmla="val 5854"/>
            </a:avLst>
          </a:prstGeom>
          <a:solidFill>
            <a:schemeClr val="bg1"/>
          </a:solidFill>
          <a:ln w="9525">
            <a:solidFill>
              <a:srgbClr val="E7E5E4"/>
            </a:solidFill>
            <a:prstDash val="solid"/>
          </a:ln>
        </p:spPr>
      </p:sp>
      <p:sp>
        <p:nvSpPr>
          <p:cNvPr id="20" name="Shape 18"/>
          <p:cNvSpPr/>
          <p:nvPr/>
        </p:nvSpPr>
        <p:spPr>
          <a:xfrm>
            <a:off x="6644488" y="4434840"/>
            <a:ext cx="457200" cy="457200"/>
          </a:xfrm>
          <a:prstGeom prst="ellipse">
            <a:avLst/>
          </a:prstGeom>
          <a:solidFill>
            <a:srgbClr val="FFF1F0"/>
          </a:solidFill>
          <a:ln/>
        </p:spPr>
      </p:sp>
      <p:sp>
        <p:nvSpPr>
          <p:cNvPr id="21" name="Text 19"/>
          <p:cNvSpPr txBox="1"/>
          <p:nvPr/>
        </p:nvSpPr>
        <p:spPr>
          <a:xfrm>
            <a:off x="6644488" y="4434840"/>
            <a:ext cx="457200" cy="457200"/>
          </a:xfrm>
          <a:prstGeom prst="rect">
            <a:avLst/>
          </a:prstGeom>
          <a:noFill/>
          <a:ln/>
        </p:spPr>
        <p:txBody>
          <a:bodyPr wrap="square" lIns="0" tIns="0" rIns="0" bIns="0" rtlCol="0" anchor="ctr"/>
          <a:lstStyle/>
          <a:p>
            <a:pPr algn="ctr" indent="0" marL="0">
              <a:buNone/>
            </a:pPr>
            <a:r>
              <a:rPr lang="en-US" sz="1600" b="1" dirty="0">
                <a:solidFill>
                  <a:schemeClr val="accent1"/>
                </a:solidFill>
              </a:rPr>
              <a:t>4</a:t>
            </a:r>
            <a:endParaRPr lang="en-US" sz="1600" dirty="0"/>
          </a:p>
        </p:txBody>
      </p:sp>
      <p:sp>
        <p:nvSpPr>
          <p:cNvPr id="22" name="Text 20"/>
          <p:cNvSpPr txBox="1"/>
          <p:nvPr/>
        </p:nvSpPr>
        <p:spPr>
          <a:xfrm>
            <a:off x="7284568" y="4434840"/>
            <a:ext cx="3992728" cy="457200"/>
          </a:xfrm>
          <a:prstGeom prst="rect">
            <a:avLst/>
          </a:prstGeom>
          <a:noFill/>
          <a:ln/>
        </p:spPr>
        <p:txBody>
          <a:bodyPr wrap="square" lIns="0" tIns="0" rIns="0" bIns="0" rtlCol="0" anchor="ctr"/>
          <a:lstStyle/>
          <a:p>
            <a:pPr indent="0" marL="0">
              <a:buNone/>
            </a:pPr>
            <a:r>
              <a:rPr lang="en-US" sz="2200" b="1" dirty="0">
                <a:solidFill>
                  <a:schemeClr val="tx1"/>
                </a:solidFill>
              </a:rPr>
              <a:t>Transparent AI</a:t>
            </a:r>
            <a:endParaRPr lang="en-US" sz="2200" dirty="0"/>
          </a:p>
        </p:txBody>
      </p:sp>
      <p:sp>
        <p:nvSpPr>
          <p:cNvPr id="23" name="Text 21"/>
          <p:cNvSpPr txBox="1"/>
          <p:nvPr/>
        </p:nvSpPr>
        <p:spPr>
          <a:xfrm>
            <a:off x="7284568" y="5029200"/>
            <a:ext cx="3992728" cy="731520"/>
          </a:xfrm>
          <a:prstGeom prst="rect">
            <a:avLst/>
          </a:prstGeom>
          <a:noFill/>
          <a:ln/>
        </p:spPr>
        <p:txBody>
          <a:bodyPr wrap="square" lIns="0" tIns="0" rIns="0" bIns="0" rtlCol="0" anchor="ctr"/>
          <a:lstStyle/>
          <a:p>
            <a:pPr indent="0" marL="0">
              <a:buNone/>
            </a:pPr>
            <a:r>
              <a:rPr lang="en-US" sz="1600" dirty="0">
                <a:solidFill>
                  <a:schemeClr val="tx2"/>
                </a:solidFill>
              </a:rPr>
              <a:t>Each answer names the model and lists exactly what left the machine.</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11094415" cy="365760"/>
          </a:xfrm>
          <a:prstGeom prst="rect">
            <a:avLst/>
          </a:prstGeom>
          <a:noFill/>
          <a:ln/>
        </p:spPr>
        <p:txBody>
          <a:bodyPr wrap="square" lIns="0" tIns="0" rIns="0" bIns="0" rtlCol="0"/>
          <a:lstStyle/>
          <a:p>
            <a:pPr indent="0" marL="0">
              <a:buNone/>
            </a:pPr>
            <a:r>
              <a:rPr lang="en-US" sz="1400" b="1" spc="200" kern="0" dirty="0">
                <a:solidFill>
                  <a:schemeClr val="accent1"/>
                </a:solidFill>
              </a:rPr>
              <a:t>HOW IT WORKS</a:t>
            </a:r>
            <a:endParaRPr lang="en-US" sz="1400" dirty="0"/>
          </a:p>
        </p:txBody>
      </p:sp>
      <p:sp>
        <p:nvSpPr>
          <p:cNvPr id="3" name="Text 0"/>
          <p:cNvSpPr/>
          <p:nvPr>
            <p:ph idx="101" type="title" hasCustomPrompt="1"/>
          </p:nvPr>
        </p:nvSpPr>
        <p:spPr>
          <a:xfrm>
            <a:off x="548640" y="777240"/>
            <a:ext cx="11094415" cy="822960"/>
          </a:xfrm>
          <a:prstGeom prst="rect">
            <a:avLst/>
          </a:prstGeom>
          <a:noFill/>
          <a:ln/>
        </p:spPr>
        <p:txBody>
          <a:bodyPr wrap="square" lIns="0" tIns="0" rIns="0" bIns="0" rtlCol="0" anchor="t"/>
          <a:lstStyle/>
          <a:p>
            <a:pPr algn="l" indent="0" marL="0">
              <a:buNone/>
            </a:pPr>
            <a:r>
              <a:rPr lang="en-US" sz="3600" b="1" dirty="0">
                <a:solidFill>
                  <a:schemeClr val="tx1"/>
                </a:solidFill>
              </a:rPr>
              <a:t>Four simple parts</a:t>
            </a:r>
            <a:endParaRPr lang="en-US" sz="3600" dirty="0"/>
          </a:p>
        </p:txBody>
      </p:sp>
      <p:sp>
        <p:nvSpPr>
          <p:cNvPr id="4" name="Shape 2"/>
          <p:cNvSpPr/>
          <p:nvPr/>
        </p:nvSpPr>
        <p:spPr>
          <a:xfrm>
            <a:off x="548640" y="1920240"/>
            <a:ext cx="3271418" cy="1645920"/>
          </a:xfrm>
          <a:prstGeom prst="roundRect">
            <a:avLst>
              <a:gd name="adj" fmla="val 6667"/>
            </a:avLst>
          </a:prstGeom>
          <a:solidFill>
            <a:schemeClr val="bg1"/>
          </a:solidFill>
          <a:ln w="9525">
            <a:solidFill>
              <a:srgbClr val="E7E5E4"/>
            </a:solidFill>
            <a:prstDash val="solid"/>
          </a:ln>
        </p:spPr>
      </p:sp>
      <p:sp>
        <p:nvSpPr>
          <p:cNvPr id="5" name="Text 3"/>
          <p:cNvSpPr txBox="1"/>
          <p:nvPr/>
        </p:nvSpPr>
        <p:spPr>
          <a:xfrm>
            <a:off x="822960" y="2194560"/>
            <a:ext cx="2722778" cy="411480"/>
          </a:xfrm>
          <a:prstGeom prst="rect">
            <a:avLst/>
          </a:prstGeom>
          <a:noFill/>
          <a:ln/>
        </p:spPr>
        <p:txBody>
          <a:bodyPr wrap="square" lIns="0" tIns="0" rIns="0" bIns="0" rtlCol="0" anchor="ctr"/>
          <a:lstStyle/>
          <a:p>
            <a:pPr indent="0" marL="0">
              <a:buNone/>
            </a:pPr>
            <a:r>
              <a:rPr lang="en-US" sz="2000" b="1" dirty="0">
                <a:solidFill>
                  <a:schemeClr val="tx1"/>
                </a:solidFill>
              </a:rPr>
              <a:t>Pane</a:t>
            </a:r>
            <a:endParaRPr lang="en-US" sz="2000" dirty="0"/>
          </a:p>
        </p:txBody>
      </p:sp>
      <p:sp>
        <p:nvSpPr>
          <p:cNvPr id="6" name="Text 4"/>
          <p:cNvSpPr txBox="1"/>
          <p:nvPr/>
        </p:nvSpPr>
        <p:spPr>
          <a:xfrm>
            <a:off x="822960" y="2697480"/>
            <a:ext cx="2722778" cy="731520"/>
          </a:xfrm>
          <a:prstGeom prst="rect">
            <a:avLst/>
          </a:prstGeom>
          <a:noFill/>
          <a:ln/>
        </p:spPr>
        <p:txBody>
          <a:bodyPr wrap="square" lIns="0" tIns="0" rIns="0" bIns="0" rtlCol="0" anchor="ctr"/>
          <a:lstStyle/>
          <a:p>
            <a:pPr indent="0" marL="0">
              <a:buNone/>
            </a:pPr>
            <a:r>
              <a:rPr lang="en-US" sz="1500" dirty="0">
                <a:solidFill>
                  <a:schemeClr val="tx2"/>
                </a:solidFill>
              </a:rPr>
              <a:t>Velloc mod in JavaScript. Pure render functions.</a:t>
            </a:r>
            <a:endParaRPr lang="en-US" sz="1500" dirty="0"/>
          </a:p>
        </p:txBody>
      </p:sp>
      <p:sp>
        <p:nvSpPr>
          <p:cNvPr id="7" name="Shape 5"/>
          <p:cNvSpPr/>
          <p:nvPr/>
        </p:nvSpPr>
        <p:spPr>
          <a:xfrm>
            <a:off x="3975506" y="2606040"/>
            <a:ext cx="329184" cy="274320"/>
          </a:xfrm>
          <a:prstGeom prst="rightArrow">
            <a:avLst/>
          </a:prstGeom>
          <a:solidFill>
            <a:schemeClr val="accent5"/>
          </a:solidFill>
          <a:ln/>
        </p:spPr>
      </p:sp>
      <p:sp>
        <p:nvSpPr>
          <p:cNvPr id="8" name="Shape 6"/>
          <p:cNvSpPr/>
          <p:nvPr/>
        </p:nvSpPr>
        <p:spPr>
          <a:xfrm>
            <a:off x="4460138" y="1920240"/>
            <a:ext cx="3271418" cy="1645920"/>
          </a:xfrm>
          <a:prstGeom prst="roundRect">
            <a:avLst>
              <a:gd name="adj" fmla="val 6667"/>
            </a:avLst>
          </a:prstGeom>
          <a:solidFill>
            <a:schemeClr val="bg1"/>
          </a:solidFill>
          <a:ln w="9525">
            <a:solidFill>
              <a:srgbClr val="E7E5E4"/>
            </a:solidFill>
            <a:prstDash val="solid"/>
          </a:ln>
        </p:spPr>
      </p:sp>
      <p:sp>
        <p:nvSpPr>
          <p:cNvPr id="9" name="Text 7"/>
          <p:cNvSpPr txBox="1"/>
          <p:nvPr/>
        </p:nvSpPr>
        <p:spPr>
          <a:xfrm>
            <a:off x="4734458" y="2194560"/>
            <a:ext cx="2722778" cy="411480"/>
          </a:xfrm>
          <a:prstGeom prst="rect">
            <a:avLst/>
          </a:prstGeom>
          <a:noFill/>
          <a:ln/>
        </p:spPr>
        <p:txBody>
          <a:bodyPr wrap="square" lIns="0" tIns="0" rIns="0" bIns="0" rtlCol="0" anchor="ctr"/>
          <a:lstStyle/>
          <a:p>
            <a:pPr indent="0" marL="0">
              <a:buNone/>
            </a:pPr>
            <a:r>
              <a:rPr lang="en-US" sz="2000" b="1" dirty="0">
                <a:solidFill>
                  <a:schemeClr val="tx1"/>
                </a:solidFill>
              </a:rPr>
              <a:t>Python back end</a:t>
            </a:r>
            <a:endParaRPr lang="en-US" sz="2000" dirty="0"/>
          </a:p>
        </p:txBody>
      </p:sp>
      <p:sp>
        <p:nvSpPr>
          <p:cNvPr id="10" name="Text 8"/>
          <p:cNvSpPr txBox="1"/>
          <p:nvPr/>
        </p:nvSpPr>
        <p:spPr>
          <a:xfrm>
            <a:off x="4734458" y="2697480"/>
            <a:ext cx="2722778" cy="731520"/>
          </a:xfrm>
          <a:prstGeom prst="rect">
            <a:avLst/>
          </a:prstGeom>
          <a:noFill/>
          <a:ln/>
        </p:spPr>
        <p:txBody>
          <a:bodyPr wrap="square" lIns="0" tIns="0" rIns="0" bIns="0" rtlCol="0" anchor="ctr"/>
          <a:lstStyle/>
          <a:p>
            <a:pPr indent="0" marL="0">
              <a:buNone/>
            </a:pPr>
            <a:r>
              <a:rPr lang="en-US" sz="1500" dirty="0">
                <a:solidFill>
                  <a:schemeClr val="tx2"/>
                </a:solidFill>
              </a:rPr>
              <a:t>pyserial and esptool. Probe, monitor, flash.</a:t>
            </a:r>
            <a:endParaRPr lang="en-US" sz="1500" dirty="0"/>
          </a:p>
        </p:txBody>
      </p:sp>
      <p:sp>
        <p:nvSpPr>
          <p:cNvPr id="11" name="Shape 9"/>
          <p:cNvSpPr/>
          <p:nvPr/>
        </p:nvSpPr>
        <p:spPr>
          <a:xfrm>
            <a:off x="7887005" y="2606040"/>
            <a:ext cx="329184" cy="274320"/>
          </a:xfrm>
          <a:prstGeom prst="rightArrow">
            <a:avLst/>
          </a:prstGeom>
          <a:solidFill>
            <a:schemeClr val="accent5"/>
          </a:solidFill>
          <a:ln/>
        </p:spPr>
      </p:sp>
      <p:sp>
        <p:nvSpPr>
          <p:cNvPr id="12" name="Shape 10"/>
          <p:cNvSpPr/>
          <p:nvPr/>
        </p:nvSpPr>
        <p:spPr>
          <a:xfrm>
            <a:off x="8371637" y="1920240"/>
            <a:ext cx="3271418" cy="1645920"/>
          </a:xfrm>
          <a:prstGeom prst="roundRect">
            <a:avLst>
              <a:gd name="adj" fmla="val 6667"/>
            </a:avLst>
          </a:prstGeom>
          <a:solidFill>
            <a:schemeClr val="bg1"/>
          </a:solidFill>
          <a:ln w="9525">
            <a:solidFill>
              <a:srgbClr val="E7E5E4"/>
            </a:solidFill>
            <a:prstDash val="solid"/>
          </a:ln>
        </p:spPr>
      </p:sp>
      <p:sp>
        <p:nvSpPr>
          <p:cNvPr id="13" name="Text 11"/>
          <p:cNvSpPr txBox="1"/>
          <p:nvPr/>
        </p:nvSpPr>
        <p:spPr>
          <a:xfrm>
            <a:off x="8645957" y="2194560"/>
            <a:ext cx="2722778" cy="411480"/>
          </a:xfrm>
          <a:prstGeom prst="rect">
            <a:avLst/>
          </a:prstGeom>
          <a:noFill/>
          <a:ln/>
        </p:spPr>
        <p:txBody>
          <a:bodyPr wrap="square" lIns="0" tIns="0" rIns="0" bIns="0" rtlCol="0" anchor="ctr"/>
          <a:lstStyle/>
          <a:p>
            <a:pPr indent="0" marL="0">
              <a:buNone/>
            </a:pPr>
            <a:r>
              <a:rPr lang="en-US" sz="2000" b="1" dirty="0">
                <a:solidFill>
                  <a:schemeClr val="tx1"/>
                </a:solidFill>
              </a:rPr>
              <a:t>ESP32-S3</a:t>
            </a:r>
            <a:endParaRPr lang="en-US" sz="2000" dirty="0"/>
          </a:p>
        </p:txBody>
      </p:sp>
      <p:sp>
        <p:nvSpPr>
          <p:cNvPr id="14" name="Text 12"/>
          <p:cNvSpPr txBox="1"/>
          <p:nvPr/>
        </p:nvSpPr>
        <p:spPr>
          <a:xfrm>
            <a:off x="8645957" y="2697480"/>
            <a:ext cx="2722778" cy="731520"/>
          </a:xfrm>
          <a:prstGeom prst="rect">
            <a:avLst/>
          </a:prstGeom>
          <a:noFill/>
          <a:ln/>
        </p:spPr>
        <p:txBody>
          <a:bodyPr wrap="square" lIns="0" tIns="0" rIns="0" bIns="0" rtlCol="0" anchor="ctr"/>
          <a:lstStyle/>
          <a:p>
            <a:pPr indent="0" marL="0">
              <a:buNone/>
            </a:pPr>
            <a:r>
              <a:rPr lang="en-US" sz="1500" dirty="0">
                <a:solidFill>
                  <a:schemeClr val="tx2"/>
                </a:solidFill>
              </a:rPr>
              <a:t>Over USB serial. A background monitor owns the port.</a:t>
            </a:r>
            <a:endParaRPr lang="en-US" sz="1500" dirty="0"/>
          </a:p>
        </p:txBody>
      </p:sp>
      <p:sp>
        <p:nvSpPr>
          <p:cNvPr id="15" name="Shape 13"/>
          <p:cNvSpPr/>
          <p:nvPr/>
        </p:nvSpPr>
        <p:spPr>
          <a:xfrm>
            <a:off x="5958688" y="3703320"/>
            <a:ext cx="274320" cy="411480"/>
          </a:xfrm>
          <a:prstGeom prst="downArrow">
            <a:avLst/>
          </a:prstGeom>
          <a:solidFill>
            <a:schemeClr val="accent1"/>
          </a:solidFill>
          <a:ln/>
        </p:spPr>
      </p:sp>
      <p:sp>
        <p:nvSpPr>
          <p:cNvPr id="16" name="Shape 14"/>
          <p:cNvSpPr/>
          <p:nvPr/>
        </p:nvSpPr>
        <p:spPr>
          <a:xfrm>
            <a:off x="548640" y="4251960"/>
            <a:ext cx="11094415" cy="1280160"/>
          </a:xfrm>
          <a:prstGeom prst="roundRect">
            <a:avLst>
              <a:gd name="adj" fmla="val 8571"/>
            </a:avLst>
          </a:prstGeom>
          <a:solidFill>
            <a:schemeClr val="tx1"/>
          </a:solidFill>
          <a:ln/>
        </p:spPr>
      </p:sp>
      <p:sp>
        <p:nvSpPr>
          <p:cNvPr id="17" name="Text 15"/>
          <p:cNvSpPr txBox="1"/>
          <p:nvPr/>
        </p:nvSpPr>
        <p:spPr>
          <a:xfrm>
            <a:off x="914400" y="4434840"/>
            <a:ext cx="10362895" cy="914400"/>
          </a:xfrm>
          <a:prstGeom prst="rect">
            <a:avLst/>
          </a:prstGeom>
          <a:noFill/>
          <a:ln/>
        </p:spPr>
        <p:txBody>
          <a:bodyPr wrap="square" lIns="0" tIns="0" rIns="0" bIns="0" rtlCol="0" anchor="ctr"/>
          <a:lstStyle/>
          <a:p>
            <a:pPr indent="0" marL="0">
              <a:spcAft>
                <a:spcPts val="400"/>
              </a:spcAft>
              <a:buNone/>
            </a:pPr>
            <a:r>
              <a:rPr lang="en-US" sz="1800" b="1" dirty="0">
                <a:solidFill>
                  <a:schemeClr val="bg1"/>
                </a:solidFill>
              </a:rPr>
              <a:t>NVIDIA Nemotron on Nebius Token Factory</a:t>
            </a:r>
            <a:endParaRPr lang="en-US" sz="1800" dirty="0"/>
          </a:p>
          <a:p>
            <a:pPr indent="0" marL="0">
              <a:spcAft>
                <a:spcPts val="400"/>
              </a:spcAft>
              <a:buNone/>
            </a:pPr>
            <a:r>
              <a:rPr lang="en-US" sz="1800" dirty="0">
                <a:solidFill>
                  <a:schemeClr val="accent6"/>
                </a:solidFill>
              </a:rPr>
              <a:t>Called by the back end with the monitor’s facts. Standard library only, no extra dependencies.</a:t>
            </a:r>
            <a:endParaRPr lang="en-US" sz="1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11094415" cy="365760"/>
          </a:xfrm>
          <a:prstGeom prst="rect">
            <a:avLst/>
          </a:prstGeom>
          <a:noFill/>
          <a:ln/>
        </p:spPr>
        <p:txBody>
          <a:bodyPr wrap="square" lIns="0" tIns="0" rIns="0" bIns="0" rtlCol="0"/>
          <a:lstStyle/>
          <a:p>
            <a:pPr indent="0" marL="0">
              <a:buNone/>
            </a:pPr>
            <a:r>
              <a:rPr lang="en-US" sz="1400" b="1" spc="200" kern="0" dirty="0">
                <a:solidFill>
                  <a:schemeClr val="accent1"/>
                </a:solidFill>
              </a:rPr>
              <a:t>BUILT AND TESTED</a:t>
            </a:r>
            <a:endParaRPr lang="en-US" sz="1400" dirty="0"/>
          </a:p>
        </p:txBody>
      </p:sp>
      <p:sp>
        <p:nvSpPr>
          <p:cNvPr id="3" name="Text 0"/>
          <p:cNvSpPr/>
          <p:nvPr>
            <p:ph idx="101" type="title" hasCustomPrompt="1"/>
          </p:nvPr>
        </p:nvSpPr>
        <p:spPr>
          <a:xfrm>
            <a:off x="548640" y="777240"/>
            <a:ext cx="11094415" cy="822960"/>
          </a:xfrm>
          <a:prstGeom prst="rect">
            <a:avLst/>
          </a:prstGeom>
          <a:noFill/>
          <a:ln/>
        </p:spPr>
        <p:txBody>
          <a:bodyPr wrap="square" lIns="0" tIns="0" rIns="0" bIns="0" rtlCol="0" anchor="t"/>
          <a:lstStyle/>
          <a:p>
            <a:pPr algn="l" indent="0" marL="0">
              <a:buNone/>
            </a:pPr>
            <a:r>
              <a:rPr lang="en-US" sz="3600" b="1" dirty="0">
                <a:solidFill>
                  <a:schemeClr val="tx1"/>
                </a:solidFill>
              </a:rPr>
              <a:t>Verified on a real board, not just in tests</a:t>
            </a:r>
            <a:endParaRPr lang="en-US" sz="3600" dirty="0"/>
          </a:p>
        </p:txBody>
      </p:sp>
      <p:sp>
        <p:nvSpPr>
          <p:cNvPr id="4" name="Shape 2"/>
          <p:cNvSpPr/>
          <p:nvPr/>
        </p:nvSpPr>
        <p:spPr>
          <a:xfrm>
            <a:off x="548640" y="1920240"/>
            <a:ext cx="3271418" cy="2194560"/>
          </a:xfrm>
          <a:prstGeom prst="roundRect">
            <a:avLst>
              <a:gd name="adj" fmla="val 5000"/>
            </a:avLst>
          </a:prstGeom>
          <a:solidFill>
            <a:schemeClr val="bg1"/>
          </a:solidFill>
          <a:ln w="9525">
            <a:solidFill>
              <a:srgbClr val="E7E5E4"/>
            </a:solidFill>
            <a:prstDash val="solid"/>
          </a:ln>
        </p:spPr>
      </p:sp>
      <p:sp>
        <p:nvSpPr>
          <p:cNvPr id="5" name="Text 3"/>
          <p:cNvSpPr txBox="1"/>
          <p:nvPr/>
        </p:nvSpPr>
        <p:spPr>
          <a:xfrm>
            <a:off x="868680" y="2148840"/>
            <a:ext cx="2631338" cy="1005840"/>
          </a:xfrm>
          <a:prstGeom prst="rect">
            <a:avLst/>
          </a:prstGeom>
          <a:noFill/>
          <a:ln/>
        </p:spPr>
        <p:txBody>
          <a:bodyPr wrap="square" lIns="0" tIns="0" rIns="0" bIns="0" rtlCol="0" anchor="ctr"/>
          <a:lstStyle/>
          <a:p>
            <a:pPr indent="0" marL="0">
              <a:buNone/>
            </a:pPr>
            <a:r>
              <a:rPr lang="en-US" sz="6000" b="1" dirty="0">
                <a:solidFill>
                  <a:schemeClr val="accent1"/>
                </a:solidFill>
              </a:rPr>
              <a:t>244</a:t>
            </a:r>
            <a:endParaRPr lang="en-US" sz="6000" dirty="0"/>
          </a:p>
        </p:txBody>
      </p:sp>
      <p:sp>
        <p:nvSpPr>
          <p:cNvPr id="6" name="Text 4"/>
          <p:cNvSpPr txBox="1"/>
          <p:nvPr/>
        </p:nvSpPr>
        <p:spPr>
          <a:xfrm>
            <a:off x="868680" y="3200400"/>
            <a:ext cx="2631338" cy="731520"/>
          </a:xfrm>
          <a:prstGeom prst="rect">
            <a:avLst/>
          </a:prstGeom>
          <a:noFill/>
          <a:ln/>
        </p:spPr>
        <p:txBody>
          <a:bodyPr wrap="square" lIns="0" tIns="0" rIns="0" bIns="0" rtlCol="0" anchor="ctr"/>
          <a:lstStyle/>
          <a:p>
            <a:pPr indent="0" marL="0">
              <a:buNone/>
            </a:pPr>
            <a:r>
              <a:rPr lang="en-US" sz="1500" dirty="0">
                <a:solidFill>
                  <a:schemeClr val="tx2"/>
                </a:solidFill>
              </a:rPr>
              <a:t>unit tests: 113 Python, 131 JavaScript</a:t>
            </a:r>
            <a:endParaRPr lang="en-US" sz="1500" dirty="0"/>
          </a:p>
        </p:txBody>
      </p:sp>
      <p:sp>
        <p:nvSpPr>
          <p:cNvPr id="7" name="Shape 5"/>
          <p:cNvSpPr/>
          <p:nvPr/>
        </p:nvSpPr>
        <p:spPr>
          <a:xfrm>
            <a:off x="4460138" y="1920240"/>
            <a:ext cx="3271418" cy="2194560"/>
          </a:xfrm>
          <a:prstGeom prst="roundRect">
            <a:avLst>
              <a:gd name="adj" fmla="val 5000"/>
            </a:avLst>
          </a:prstGeom>
          <a:solidFill>
            <a:schemeClr val="bg1"/>
          </a:solidFill>
          <a:ln w="9525">
            <a:solidFill>
              <a:srgbClr val="E7E5E4"/>
            </a:solidFill>
            <a:prstDash val="solid"/>
          </a:ln>
        </p:spPr>
      </p:sp>
      <p:sp>
        <p:nvSpPr>
          <p:cNvPr id="8" name="Text 6"/>
          <p:cNvSpPr txBox="1"/>
          <p:nvPr/>
        </p:nvSpPr>
        <p:spPr>
          <a:xfrm>
            <a:off x="4780178" y="2148840"/>
            <a:ext cx="2631338" cy="1005840"/>
          </a:xfrm>
          <a:prstGeom prst="rect">
            <a:avLst/>
          </a:prstGeom>
          <a:noFill/>
          <a:ln/>
        </p:spPr>
        <p:txBody>
          <a:bodyPr wrap="square" lIns="0" tIns="0" rIns="0" bIns="0" rtlCol="0" anchor="ctr"/>
          <a:lstStyle/>
          <a:p>
            <a:pPr indent="0" marL="0">
              <a:buNone/>
            </a:pPr>
            <a:r>
              <a:rPr lang="en-US" sz="6000" b="1" dirty="0">
                <a:solidFill>
                  <a:schemeClr val="tx1"/>
                </a:solidFill>
              </a:rPr>
              <a:t>4</a:t>
            </a:r>
            <a:endParaRPr lang="en-US" sz="6000" dirty="0"/>
          </a:p>
        </p:txBody>
      </p:sp>
      <p:sp>
        <p:nvSpPr>
          <p:cNvPr id="9" name="Text 7"/>
          <p:cNvSpPr txBox="1"/>
          <p:nvPr/>
        </p:nvSpPr>
        <p:spPr>
          <a:xfrm>
            <a:off x="4780178" y="3200400"/>
            <a:ext cx="2631338" cy="731520"/>
          </a:xfrm>
          <a:prstGeom prst="rect">
            <a:avLst/>
          </a:prstGeom>
          <a:noFill/>
          <a:ln/>
        </p:spPr>
        <p:txBody>
          <a:bodyPr wrap="square" lIns="0" tIns="0" rIns="0" bIns="0" rtlCol="0" anchor="ctr"/>
          <a:lstStyle/>
          <a:p>
            <a:pPr indent="0" marL="0">
              <a:buNone/>
            </a:pPr>
            <a:r>
              <a:rPr lang="en-US" sz="1500" dirty="0">
                <a:solidFill>
                  <a:schemeClr val="tx2"/>
                </a:solidFill>
              </a:rPr>
              <a:t>demo firmwares: healthy, crash, Wi-Fi failure, watchdog loop</a:t>
            </a:r>
            <a:endParaRPr lang="en-US" sz="1500" dirty="0"/>
          </a:p>
        </p:txBody>
      </p:sp>
      <p:sp>
        <p:nvSpPr>
          <p:cNvPr id="10" name="Shape 8"/>
          <p:cNvSpPr/>
          <p:nvPr/>
        </p:nvSpPr>
        <p:spPr>
          <a:xfrm>
            <a:off x="8371637" y="1920240"/>
            <a:ext cx="3271418" cy="2194560"/>
          </a:xfrm>
          <a:prstGeom prst="roundRect">
            <a:avLst>
              <a:gd name="adj" fmla="val 5000"/>
            </a:avLst>
          </a:prstGeom>
          <a:solidFill>
            <a:schemeClr val="bg1"/>
          </a:solidFill>
          <a:ln w="9525">
            <a:solidFill>
              <a:srgbClr val="E7E5E4"/>
            </a:solidFill>
            <a:prstDash val="solid"/>
          </a:ln>
        </p:spPr>
      </p:sp>
      <p:sp>
        <p:nvSpPr>
          <p:cNvPr id="11" name="Text 9"/>
          <p:cNvSpPr txBox="1"/>
          <p:nvPr/>
        </p:nvSpPr>
        <p:spPr>
          <a:xfrm>
            <a:off x="8691677" y="2148840"/>
            <a:ext cx="2631338" cy="1005840"/>
          </a:xfrm>
          <a:prstGeom prst="rect">
            <a:avLst/>
          </a:prstGeom>
          <a:noFill/>
          <a:ln/>
        </p:spPr>
        <p:txBody>
          <a:bodyPr wrap="square" lIns="0" tIns="0" rIns="0" bIns="0" rtlCol="0" anchor="ctr"/>
          <a:lstStyle/>
          <a:p>
            <a:pPr indent="0" marL="0">
              <a:buNone/>
            </a:pPr>
            <a:r>
              <a:rPr lang="en-US" sz="6000" b="1" dirty="0">
                <a:solidFill>
                  <a:schemeClr val="tx1"/>
                </a:solidFill>
              </a:rPr>
              <a:t>8.4 s</a:t>
            </a:r>
            <a:endParaRPr lang="en-US" sz="6000" dirty="0"/>
          </a:p>
        </p:txBody>
      </p:sp>
      <p:sp>
        <p:nvSpPr>
          <p:cNvPr id="12" name="Text 10"/>
          <p:cNvSpPr txBox="1"/>
          <p:nvPr/>
        </p:nvSpPr>
        <p:spPr>
          <a:xfrm>
            <a:off x="8691677" y="3200400"/>
            <a:ext cx="2631338" cy="731520"/>
          </a:xfrm>
          <a:prstGeom prst="rect">
            <a:avLst/>
          </a:prstGeom>
          <a:noFill/>
          <a:ln/>
        </p:spPr>
        <p:txBody>
          <a:bodyPr wrap="square" lIns="0" tIns="0" rIns="0" bIns="0" rtlCol="0" anchor="ctr"/>
          <a:lstStyle/>
          <a:p>
            <a:pPr indent="0" marL="0">
              <a:buNone/>
            </a:pPr>
            <a:r>
              <a:rPr lang="en-US" sz="1500" dirty="0">
                <a:solidFill>
                  <a:schemeClr val="tx2"/>
                </a:solidFill>
              </a:rPr>
              <a:t>to flash a demo firmware, with live progress</a:t>
            </a:r>
            <a:endParaRPr lang="en-US" sz="1500" dirty="0"/>
          </a:p>
        </p:txBody>
      </p:sp>
      <p:sp>
        <p:nvSpPr>
          <p:cNvPr id="13" name="Text 11"/>
          <p:cNvSpPr txBox="1"/>
          <p:nvPr/>
        </p:nvSpPr>
        <p:spPr>
          <a:xfrm>
            <a:off x="548640" y="4480560"/>
            <a:ext cx="11094415" cy="822960"/>
          </a:xfrm>
          <a:prstGeom prst="rect">
            <a:avLst/>
          </a:prstGeom>
          <a:noFill/>
          <a:ln/>
        </p:spPr>
        <p:txBody>
          <a:bodyPr wrap="square" lIns="0" tIns="0" rIns="0" bIns="0" rtlCol="0" anchor="ctr"/>
          <a:lstStyle/>
          <a:p>
            <a:pPr indent="0" marL="0">
              <a:buNone/>
            </a:pPr>
            <a:r>
              <a:rPr lang="en-US" sz="1600" dirty="0">
                <a:solidFill>
                  <a:schemeClr val="tx2"/>
                </a:solidFill>
              </a:rPr>
              <a:t>Hardware: ESP32-S3 (16 MB flash, 8 MB PSRAM, CP2102N). </a:t>
            </a:r>
            <a:pPr indent="0" marL="0">
              <a:buNone/>
            </a:pPr>
            <a:r>
              <a:rPr lang="en-US" sz="1600" b="1" dirty="0">
                <a:solidFill>
                  <a:schemeClr val="tx1"/>
                </a:solidFill>
              </a:rPr>
              <a:t>A real bug found on it: </a:t>
            </a:r>
            <a:pPr indent="0" marL="0">
              <a:buNone/>
            </a:pPr>
            <a:r>
              <a:rPr lang="en-US" sz="1600" dirty="0">
                <a:solidFill>
                  <a:schemeClr val="tx2"/>
                </a:solidFill>
              </a:rPr>
              <a:t>reset noise before ESP-ROM: hid reboot loops — now cleaned and covered by a test.</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11094415" cy="365760"/>
          </a:xfrm>
          <a:prstGeom prst="rect">
            <a:avLst/>
          </a:prstGeom>
          <a:noFill/>
          <a:ln/>
        </p:spPr>
        <p:txBody>
          <a:bodyPr wrap="square" lIns="0" tIns="0" rIns="0" bIns="0" rtlCol="0"/>
          <a:lstStyle/>
          <a:p>
            <a:pPr indent="0" marL="0">
              <a:buNone/>
            </a:pPr>
            <a:r>
              <a:rPr lang="en-US" sz="1400" b="1" spc="200" kern="0" dirty="0">
                <a:solidFill>
                  <a:schemeClr val="accent1"/>
                </a:solidFill>
              </a:rPr>
              <a:t>WHAT’S NEXT</a:t>
            </a:r>
            <a:endParaRPr lang="en-US" sz="1400" dirty="0"/>
          </a:p>
        </p:txBody>
      </p:sp>
      <p:sp>
        <p:nvSpPr>
          <p:cNvPr id="3" name="Text 0"/>
          <p:cNvSpPr/>
          <p:nvPr>
            <p:ph idx="101" type="title" hasCustomPrompt="1"/>
          </p:nvPr>
        </p:nvSpPr>
        <p:spPr>
          <a:xfrm>
            <a:off x="548640" y="777240"/>
            <a:ext cx="11094415" cy="822960"/>
          </a:xfrm>
          <a:prstGeom prst="rect">
            <a:avLst/>
          </a:prstGeom>
          <a:noFill/>
          <a:ln/>
        </p:spPr>
        <p:txBody>
          <a:bodyPr wrap="square" lIns="0" tIns="0" rIns="0" bIns="0" rtlCol="0" anchor="t"/>
          <a:lstStyle/>
          <a:p>
            <a:pPr algn="l" indent="0" marL="0">
              <a:buNone/>
            </a:pPr>
            <a:r>
              <a:rPr lang="en-US" sz="3600" b="1" dirty="0">
                <a:solidFill>
                  <a:schemeClr val="tx1"/>
                </a:solidFill>
              </a:rPr>
              <a:t>Closing the loop from diagnosis to fix</a:t>
            </a:r>
            <a:endParaRPr lang="en-US" sz="3600" dirty="0"/>
          </a:p>
        </p:txBody>
      </p:sp>
      <p:sp>
        <p:nvSpPr>
          <p:cNvPr id="4" name="Shape 2"/>
          <p:cNvSpPr/>
          <p:nvPr/>
        </p:nvSpPr>
        <p:spPr>
          <a:xfrm>
            <a:off x="548640" y="1920240"/>
            <a:ext cx="11094415" cy="731520"/>
          </a:xfrm>
          <a:prstGeom prst="roundRect">
            <a:avLst>
              <a:gd name="adj" fmla="val 15000"/>
            </a:avLst>
          </a:prstGeom>
          <a:solidFill>
            <a:schemeClr val="bg1"/>
          </a:solidFill>
          <a:ln w="9525">
            <a:solidFill>
              <a:srgbClr val="E7E5E4"/>
            </a:solidFill>
            <a:prstDash val="solid"/>
          </a:ln>
        </p:spPr>
      </p:sp>
      <p:sp>
        <p:nvSpPr>
          <p:cNvPr id="5" name="Text 3"/>
          <p:cNvSpPr txBox="1"/>
          <p:nvPr/>
        </p:nvSpPr>
        <p:spPr>
          <a:xfrm>
            <a:off x="868680" y="2057400"/>
            <a:ext cx="457200" cy="457200"/>
          </a:xfrm>
          <a:prstGeom prst="rect">
            <a:avLst/>
          </a:prstGeom>
          <a:noFill/>
          <a:ln/>
        </p:spPr>
        <p:txBody>
          <a:bodyPr wrap="square" lIns="0" tIns="0" rIns="0" bIns="0" rtlCol="0" anchor="ctr"/>
          <a:lstStyle/>
          <a:p>
            <a:pPr indent="0" marL="0">
              <a:buNone/>
            </a:pPr>
            <a:r>
              <a:rPr lang="en-US" sz="2400" b="1" dirty="0">
                <a:solidFill>
                  <a:schemeClr val="accent1"/>
                </a:solidFill>
              </a:rPr>
              <a:t>1</a:t>
            </a:r>
            <a:endParaRPr lang="en-US" sz="2400" dirty="0"/>
          </a:p>
        </p:txBody>
      </p:sp>
      <p:sp>
        <p:nvSpPr>
          <p:cNvPr id="6" name="Text 4"/>
          <p:cNvSpPr txBox="1"/>
          <p:nvPr/>
        </p:nvSpPr>
        <p:spPr>
          <a:xfrm>
            <a:off x="1463040" y="2057400"/>
            <a:ext cx="9814255" cy="457200"/>
          </a:xfrm>
          <a:prstGeom prst="rect">
            <a:avLst/>
          </a:prstGeom>
          <a:noFill/>
          <a:ln/>
        </p:spPr>
        <p:txBody>
          <a:bodyPr wrap="square" lIns="0" tIns="0" rIns="0" bIns="0" rtlCol="0" anchor="ctr"/>
          <a:lstStyle/>
          <a:p>
            <a:pPr indent="0" marL="0">
              <a:buNone/>
            </a:pPr>
            <a:r>
              <a:rPr lang="en-US" sz="1900" dirty="0">
                <a:solidFill>
                  <a:schemeClr val="tx1"/>
                </a:solidFill>
              </a:rPr>
              <a:t>Diagnose automatically the moment a crash is detected</a:t>
            </a:r>
            <a:endParaRPr lang="en-US" sz="1900" dirty="0"/>
          </a:p>
        </p:txBody>
      </p:sp>
      <p:sp>
        <p:nvSpPr>
          <p:cNvPr id="7" name="Shape 5"/>
          <p:cNvSpPr/>
          <p:nvPr/>
        </p:nvSpPr>
        <p:spPr>
          <a:xfrm>
            <a:off x="548640" y="2834640"/>
            <a:ext cx="11094415" cy="731520"/>
          </a:xfrm>
          <a:prstGeom prst="roundRect">
            <a:avLst>
              <a:gd name="adj" fmla="val 15000"/>
            </a:avLst>
          </a:prstGeom>
          <a:solidFill>
            <a:schemeClr val="bg1"/>
          </a:solidFill>
          <a:ln w="9525">
            <a:solidFill>
              <a:srgbClr val="E7E5E4"/>
            </a:solidFill>
            <a:prstDash val="solid"/>
          </a:ln>
        </p:spPr>
      </p:sp>
      <p:sp>
        <p:nvSpPr>
          <p:cNvPr id="8" name="Text 6"/>
          <p:cNvSpPr txBox="1"/>
          <p:nvPr/>
        </p:nvSpPr>
        <p:spPr>
          <a:xfrm>
            <a:off x="868680" y="2971800"/>
            <a:ext cx="457200" cy="457200"/>
          </a:xfrm>
          <a:prstGeom prst="rect">
            <a:avLst/>
          </a:prstGeom>
          <a:noFill/>
          <a:ln/>
        </p:spPr>
        <p:txBody>
          <a:bodyPr wrap="square" lIns="0" tIns="0" rIns="0" bIns="0" rtlCol="0" anchor="ctr"/>
          <a:lstStyle/>
          <a:p>
            <a:pPr indent="0" marL="0">
              <a:buNone/>
            </a:pPr>
            <a:r>
              <a:rPr lang="en-US" sz="2400" b="1" dirty="0">
                <a:solidFill>
                  <a:schemeClr val="accent1"/>
                </a:solidFill>
              </a:rPr>
              <a:t>2</a:t>
            </a:r>
            <a:endParaRPr lang="en-US" sz="2400" dirty="0"/>
          </a:p>
        </p:txBody>
      </p:sp>
      <p:sp>
        <p:nvSpPr>
          <p:cNvPr id="9" name="Text 7"/>
          <p:cNvSpPr txBox="1"/>
          <p:nvPr/>
        </p:nvSpPr>
        <p:spPr>
          <a:xfrm>
            <a:off x="1463040" y="2971800"/>
            <a:ext cx="9814255" cy="457200"/>
          </a:xfrm>
          <a:prstGeom prst="rect">
            <a:avLst/>
          </a:prstGeom>
          <a:noFill/>
          <a:ln/>
        </p:spPr>
        <p:txBody>
          <a:bodyPr wrap="square" lIns="0" tIns="0" rIns="0" bIns="0" rtlCol="0" anchor="ctr"/>
          <a:lstStyle/>
          <a:p>
            <a:pPr indent="0" marL="0">
              <a:buNone/>
            </a:pPr>
            <a:r>
              <a:rPr lang="en-US" sz="1900" dirty="0">
                <a:solidFill>
                  <a:schemeClr val="tx1"/>
                </a:solidFill>
              </a:rPr>
              <a:t>Decode backtraces against the ELF to point at the source line</a:t>
            </a:r>
            <a:endParaRPr lang="en-US" sz="1900" dirty="0"/>
          </a:p>
        </p:txBody>
      </p:sp>
      <p:sp>
        <p:nvSpPr>
          <p:cNvPr id="10" name="Shape 8"/>
          <p:cNvSpPr/>
          <p:nvPr/>
        </p:nvSpPr>
        <p:spPr>
          <a:xfrm>
            <a:off x="548640" y="3749040"/>
            <a:ext cx="11094415" cy="731520"/>
          </a:xfrm>
          <a:prstGeom prst="roundRect">
            <a:avLst>
              <a:gd name="adj" fmla="val 15000"/>
            </a:avLst>
          </a:prstGeom>
          <a:solidFill>
            <a:schemeClr val="bg1"/>
          </a:solidFill>
          <a:ln w="9525">
            <a:solidFill>
              <a:srgbClr val="E7E5E4"/>
            </a:solidFill>
            <a:prstDash val="solid"/>
          </a:ln>
        </p:spPr>
      </p:sp>
      <p:sp>
        <p:nvSpPr>
          <p:cNvPr id="11" name="Text 9"/>
          <p:cNvSpPr txBox="1"/>
          <p:nvPr/>
        </p:nvSpPr>
        <p:spPr>
          <a:xfrm>
            <a:off x="868680" y="3886200"/>
            <a:ext cx="457200" cy="457200"/>
          </a:xfrm>
          <a:prstGeom prst="rect">
            <a:avLst/>
          </a:prstGeom>
          <a:noFill/>
          <a:ln/>
        </p:spPr>
        <p:txBody>
          <a:bodyPr wrap="square" lIns="0" tIns="0" rIns="0" bIns="0" rtlCol="0" anchor="ctr"/>
          <a:lstStyle/>
          <a:p>
            <a:pPr indent="0" marL="0">
              <a:buNone/>
            </a:pPr>
            <a:r>
              <a:rPr lang="en-US" sz="2400" b="1" dirty="0">
                <a:solidFill>
                  <a:schemeClr val="accent1"/>
                </a:solidFill>
              </a:rPr>
              <a:t>3</a:t>
            </a:r>
            <a:endParaRPr lang="en-US" sz="2400" dirty="0"/>
          </a:p>
        </p:txBody>
      </p:sp>
      <p:sp>
        <p:nvSpPr>
          <p:cNvPr id="12" name="Text 10"/>
          <p:cNvSpPr txBox="1"/>
          <p:nvPr/>
        </p:nvSpPr>
        <p:spPr>
          <a:xfrm>
            <a:off x="1463040" y="3886200"/>
            <a:ext cx="9814255" cy="457200"/>
          </a:xfrm>
          <a:prstGeom prst="rect">
            <a:avLst/>
          </a:prstGeom>
          <a:noFill/>
          <a:ln/>
        </p:spPr>
        <p:txBody>
          <a:bodyPr wrap="square" lIns="0" tIns="0" rIns="0" bIns="0" rtlCol="0" anchor="ctr"/>
          <a:lstStyle/>
          <a:p>
            <a:pPr indent="0" marL="0">
              <a:buNone/>
            </a:pPr>
            <a:r>
              <a:rPr lang="en-US" sz="1900" dirty="0">
                <a:solidFill>
                  <a:schemeClr val="tx1"/>
                </a:solidFill>
              </a:rPr>
              <a:t>Let the coding agent apply the fix, rebuild and re-flash — after asking</a:t>
            </a:r>
            <a:endParaRPr lang="en-US" sz="1900" dirty="0"/>
          </a:p>
        </p:txBody>
      </p:sp>
      <p:sp>
        <p:nvSpPr>
          <p:cNvPr id="13" name="Shape 11"/>
          <p:cNvSpPr/>
          <p:nvPr/>
        </p:nvSpPr>
        <p:spPr>
          <a:xfrm>
            <a:off x="548640" y="4663440"/>
            <a:ext cx="11094415" cy="731520"/>
          </a:xfrm>
          <a:prstGeom prst="roundRect">
            <a:avLst>
              <a:gd name="adj" fmla="val 15000"/>
            </a:avLst>
          </a:prstGeom>
          <a:solidFill>
            <a:schemeClr val="bg1"/>
          </a:solidFill>
          <a:ln w="9525">
            <a:solidFill>
              <a:srgbClr val="E7E5E4"/>
            </a:solidFill>
            <a:prstDash val="solid"/>
          </a:ln>
        </p:spPr>
      </p:sp>
      <p:sp>
        <p:nvSpPr>
          <p:cNvPr id="14" name="Text 12"/>
          <p:cNvSpPr txBox="1"/>
          <p:nvPr/>
        </p:nvSpPr>
        <p:spPr>
          <a:xfrm>
            <a:off x="868680" y="4800600"/>
            <a:ext cx="457200" cy="457200"/>
          </a:xfrm>
          <a:prstGeom prst="rect">
            <a:avLst/>
          </a:prstGeom>
          <a:noFill/>
          <a:ln/>
        </p:spPr>
        <p:txBody>
          <a:bodyPr wrap="square" lIns="0" tIns="0" rIns="0" bIns="0" rtlCol="0" anchor="ctr"/>
          <a:lstStyle/>
          <a:p>
            <a:pPr indent="0" marL="0">
              <a:buNone/>
            </a:pPr>
            <a:r>
              <a:rPr lang="en-US" sz="2400" b="1" dirty="0">
                <a:solidFill>
                  <a:schemeClr val="accent1"/>
                </a:solidFill>
              </a:rPr>
              <a:t>4</a:t>
            </a:r>
            <a:endParaRPr lang="en-US" sz="2400" dirty="0"/>
          </a:p>
        </p:txBody>
      </p:sp>
      <p:sp>
        <p:nvSpPr>
          <p:cNvPr id="15" name="Text 13"/>
          <p:cNvSpPr txBox="1"/>
          <p:nvPr/>
        </p:nvSpPr>
        <p:spPr>
          <a:xfrm>
            <a:off x="1463040" y="4800600"/>
            <a:ext cx="9814255" cy="457200"/>
          </a:xfrm>
          <a:prstGeom prst="rect">
            <a:avLst/>
          </a:prstGeom>
          <a:noFill/>
          <a:ln/>
        </p:spPr>
        <p:txBody>
          <a:bodyPr wrap="square" lIns="0" tIns="0" rIns="0" bIns="0" rtlCol="0" anchor="ctr"/>
          <a:lstStyle/>
          <a:p>
            <a:pPr indent="0" marL="0">
              <a:buNone/>
            </a:pPr>
            <a:r>
              <a:rPr lang="en-US" sz="1900" dirty="0">
                <a:solidFill>
                  <a:schemeClr val="tx1"/>
                </a:solidFill>
              </a:rPr>
              <a:t>More chips (ESP32-C3, C6) and macOS / Linux</a:t>
            </a:r>
            <a:endParaRPr lang="en-US" sz="19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1737360"/>
            <a:ext cx="11094415" cy="365760"/>
          </a:xfrm>
          <a:prstGeom prst="rect">
            <a:avLst/>
          </a:prstGeom>
          <a:noFill/>
          <a:ln/>
        </p:spPr>
        <p:txBody>
          <a:bodyPr wrap="square" lIns="0" tIns="0" rIns="0" bIns="0" rtlCol="0" anchor="ctr"/>
          <a:lstStyle/>
          <a:p>
            <a:pPr indent="0" marL="0">
              <a:buNone/>
            </a:pPr>
            <a:r>
              <a:rPr lang="en-US" sz="1600" b="1" spc="200" kern="0" dirty="0">
                <a:solidFill>
                  <a:schemeClr val="accent1"/>
                </a:solidFill>
              </a:rPr>
              <a:t>LIVE DEMO</a:t>
            </a:r>
            <a:endParaRPr lang="en-US" sz="1600" dirty="0"/>
          </a:p>
        </p:txBody>
      </p:sp>
      <p:sp>
        <p:nvSpPr>
          <p:cNvPr id="3" name="Text 1"/>
          <p:cNvSpPr txBox="1"/>
          <p:nvPr/>
        </p:nvSpPr>
        <p:spPr>
          <a:xfrm>
            <a:off x="548640" y="2194560"/>
            <a:ext cx="10515600" cy="1188720"/>
          </a:xfrm>
          <a:prstGeom prst="rect">
            <a:avLst/>
          </a:prstGeom>
          <a:noFill/>
          <a:ln/>
        </p:spPr>
        <p:txBody>
          <a:bodyPr wrap="square" lIns="0" tIns="0" rIns="0" bIns="0" rtlCol="0" anchor="ctr"/>
          <a:lstStyle/>
          <a:p>
            <a:pPr indent="0" marL="0">
              <a:buNone/>
            </a:pPr>
            <a:r>
              <a:rPr lang="en-US" sz="5400" b="1" dirty="0">
                <a:solidFill>
                  <a:schemeClr val="bg1"/>
                </a:solidFill>
              </a:rPr>
              <a:t>Let’s break a board — and fix it</a:t>
            </a:r>
            <a:endParaRPr lang="en-US" sz="5400" dirty="0"/>
          </a:p>
        </p:txBody>
      </p:sp>
      <p:sp>
        <p:nvSpPr>
          <p:cNvPr id="4" name="Text 2"/>
          <p:cNvSpPr txBox="1"/>
          <p:nvPr/>
        </p:nvSpPr>
        <p:spPr>
          <a:xfrm>
            <a:off x="548640" y="3566160"/>
            <a:ext cx="11094415" cy="548640"/>
          </a:xfrm>
          <a:prstGeom prst="rect">
            <a:avLst/>
          </a:prstGeom>
          <a:noFill/>
          <a:ln/>
        </p:spPr>
        <p:txBody>
          <a:bodyPr wrap="square" lIns="0" tIns="0" rIns="0" bIns="0" rtlCol="0" anchor="ctr"/>
          <a:lstStyle/>
          <a:p>
            <a:pPr indent="0" marL="0">
              <a:buNone/>
            </a:pPr>
            <a:r>
              <a:rPr lang="en-US" sz="2000" dirty="0">
                <a:solidFill>
                  <a:schemeClr val="accent6"/>
                </a:solidFill>
              </a:rPr>
              <a:t>Plug in  →  green verdict  →  flash a watchdog bug  →  red  →  AI diagnosis  →  fix  →  green</a:t>
            </a:r>
            <a:endParaRPr lang="en-US" sz="2000" dirty="0"/>
          </a:p>
        </p:txBody>
      </p:sp>
      <p:sp>
        <p:nvSpPr>
          <p:cNvPr id="5" name="Text 3"/>
          <p:cNvSpPr txBox="1"/>
          <p:nvPr/>
        </p:nvSpPr>
        <p:spPr>
          <a:xfrm>
            <a:off x="548640" y="6035040"/>
            <a:ext cx="11094415" cy="320040"/>
          </a:xfrm>
          <a:prstGeom prst="rect">
            <a:avLst/>
          </a:prstGeom>
          <a:noFill/>
          <a:ln/>
        </p:spPr>
        <p:txBody>
          <a:bodyPr wrap="square" lIns="0" tIns="0" rIns="0" bIns="0" rtlCol="0" anchor="ctr"/>
          <a:lstStyle/>
          <a:p>
            <a:pPr indent="0" marL="0">
              <a:buNone/>
            </a:pPr>
            <a:r>
              <a:rPr lang="en-US" sz="1200" dirty="0">
                <a:solidFill>
                  <a:schemeClr val="accent5"/>
                </a:solidFill>
              </a:rPr>
              <a:t>Open source (MIT)  ·  github.com/johnnyqiuyun/esp32-assistant</a:t>
            </a:r>
            <a:endParaRPr lang="en-US" sz="1200" dirty="0"/>
          </a:p>
        </p:txBody>
      </p:sp>
    </p:spTree>
  </p:cSld>
  <p:clrMapOvr>
    <a:masterClrMapping/>
  </p:clrMapOvr>
</p:sld>
</file>

<file path=ppt/theme/theme1.xml><?xml version="1.0" encoding="utf-8"?>
<a:theme xmlns:a="http://schemas.openxmlformats.org/drawingml/2006/main" name="ESP32 Assistant">
  <a:themeElements>
    <a:clrScheme name="ESP32 Assistant">
      <a:dk1>
        <a:srgbClr val="1A1714"/>
      </a:dk1>
      <a:lt1>
        <a:srgbClr val="FFFFFF"/>
      </a:lt1>
      <a:dk2>
        <a:srgbClr val="6B6560"/>
      </a:dk2>
      <a:lt2>
        <a:srgbClr val="F7F5F3"/>
      </a:lt2>
      <a:accent1>
        <a:srgbClr val="E7000B"/>
      </a:accent1>
      <a:accent2>
        <a:srgbClr val="2D8A56"/>
      </a:accent2>
      <a:accent3>
        <a:srgbClr val="B8860B"/>
      </a:accent3>
      <a:accent4>
        <a:srgbClr val="1A65C9"/>
      </a:accent4>
      <a:accent5>
        <a:srgbClr val="A8A29E"/>
      </a:accent5>
      <a:accent6>
        <a:srgbClr val="C4B9B0"/>
      </a:accent6>
      <a:hlink>
        <a:srgbClr val="1A65C9"/>
      </a:hlink>
      <a:folHlink>
        <a:srgbClr val="6B4FA0"/>
      </a:folHlink>
    </a:clrScheme>
    <a:fontScheme name="ESP32 Assistant">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ESP32 Assistant</dc:title>
  <dc:subject>PptxGenJS Presentation</dc:subject>
  <dc:creator>Johnny Zong</dc:creator>
  <cp:lastModifiedBy>Johnny Zong</cp:lastModifiedBy>
  <cp:revision>1</cp:revision>
  <dcterms:created xsi:type="dcterms:W3CDTF">2026-10-29T05:31:42Z</dcterms:created>
  <dcterms:modified xsi:type="dcterms:W3CDTF">2026-10-29T05:31:42Z</dcterms:modified>
</cp:coreProperties>
</file>